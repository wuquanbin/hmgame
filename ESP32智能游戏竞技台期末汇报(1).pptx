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29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0206E503-08FC-4ADF-9C91-3A4B299934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F4FF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2CA8000-54C9-4717-81E4-3A1715ECF2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381500" cy="6858000"/>
          </a:xfrm>
          <a:prstGeom prst="rect">
            <a:avLst/>
          </a:prstGeom>
          <a:solidFill>
            <a:srgbClr val="0E1930"/>
          </a:solidFill>
          <a:ln w="0">
            <a:noFill/>
          </a:ln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17014" b="17014"/>
          <a:stretch>
            <a:fillRect/>
          </a:stretch>
        </p:blipFill>
        <p:spPr>
          <a:xfrm>
            <a:off x="609600" y="1238250"/>
            <a:ext cx="3810000" cy="4476750"/>
          </a:xfrm>
          <a:prstGeom prst="roundRect">
            <a:avLst>
              <a:gd name="adj" fmla="val 2000"/>
            </a:avLst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DF7B63B5-1357-44AA-8B5A-01A53F9C4B4E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3810000" cy="4476750"/>
          </a:xfrm>
          <a:prstGeom prst="roundRect">
            <a:avLst>
              <a:gd name="adj" fmla="val 2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</a:ln>
        </p:spPr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38A145B-2370-4E4D-8E2C-43566F8FC58B}"/>
              </a:ext>
            </a:extLst>
          </p:cNvPr>
          <p:cNvSpPr>
            <a:spLocks noGrp="1"/>
          </p:cNvSpPr>
          <p:nvPr/>
        </p:nvSpPr>
        <p:spPr>
          <a:xfrm>
            <a:off x="5219700" y="933450"/>
            <a:ext cx="2476500" cy="323850"/>
          </a:xfrm>
          <a:prstGeom prst="roundRect">
            <a:avLst>
              <a:gd name="adj" fmla="val 23529"/>
            </a:avLst>
          </a:prstGeom>
          <a:solidFill>
            <a:srgbClr val="3F7BD8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A2AB7FC-FD2A-47BE-8BCE-4378D9262E5D}"/>
              </a:ext>
            </a:extLst>
          </p:cNvPr>
          <p:cNvSpPr>
            <a:spLocks noGrp="1"/>
          </p:cNvSpPr>
          <p:nvPr/>
        </p:nvSpPr>
        <p:spPr>
          <a:xfrm>
            <a:off x="5219700" y="9525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0" rIns="76200" bIns="0" anchor="ctr"/>
          <a:lstStyle/>
          <a:p>
            <a:pPr algn="ctr">
              <a:lnSpc>
                <a:spcPct val="118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OpenHarmony + ESP32 + MQTT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6A0D16-C73E-42C3-9F08-DBBF4FEACCA3}"/>
              </a:ext>
            </a:extLst>
          </p:cNvPr>
          <p:cNvSpPr>
            <a:spLocks noGrp="1"/>
          </p:cNvSpPr>
          <p:nvPr/>
        </p:nvSpPr>
        <p:spPr>
          <a:xfrm>
            <a:off x="5143500" y="1600200"/>
            <a:ext cx="5619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33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ESP32智能游戏竞技台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5458BDB-C247-47E8-A620-6DA6D2132AFC}"/>
              </a:ext>
            </a:extLst>
          </p:cNvPr>
          <p:cNvSpPr>
            <a:spLocks noGrp="1"/>
          </p:cNvSpPr>
          <p:nvPr/>
        </p:nvSpPr>
        <p:spPr>
          <a:xfrm>
            <a:off x="5162550" y="2400300"/>
            <a:ext cx="6096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1650" b="0" i="0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基于 OpenHarmony 的物联网期末大作业汇报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6779ACF-1AF9-4FFE-9D85-11159A2A9284}"/>
              </a:ext>
            </a:extLst>
          </p:cNvPr>
          <p:cNvSpPr>
            <a:spLocks noGrp="1"/>
          </p:cNvSpPr>
          <p:nvPr/>
        </p:nvSpPr>
        <p:spPr>
          <a:xfrm>
            <a:off x="5162550" y="3143250"/>
            <a:ext cx="5715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28000"/>
              </a:lnSpc>
              <a:buNone/>
              <a:defRPr sz="13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通过 MQTT 实现手机 APP 与 ESP32 开发板的双向通信，联动蜂鸣器、AD 五路按键、四位数码管和 8x8 矩阵灯，构建可玩的智能游戏终端。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CE4E35D-E85C-4818-8647-7140CBC63A6E}"/>
              </a:ext>
            </a:extLst>
          </p:cNvPr>
          <p:cNvSpPr>
            <a:spLocks noGrp="1"/>
          </p:cNvSpPr>
          <p:nvPr/>
        </p:nvSpPr>
        <p:spPr>
          <a:xfrm>
            <a:off x="5162550" y="4495800"/>
            <a:ext cx="1333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FE7F4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331CD08-F628-4D70-BE6F-207BED12F464}"/>
              </a:ext>
            </a:extLst>
          </p:cNvPr>
          <p:cNvSpPr>
            <a:spLocks noGrp="1"/>
          </p:cNvSpPr>
          <p:nvPr/>
        </p:nvSpPr>
        <p:spPr>
          <a:xfrm>
            <a:off x="5334000" y="4629150"/>
            <a:ext cx="9906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210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5B3CF7C-BDF5-4B0B-9FD9-2D6EE5F81360}"/>
              </a:ext>
            </a:extLst>
          </p:cNvPr>
          <p:cNvSpPr>
            <a:spLocks noGrp="1"/>
          </p:cNvSpPr>
          <p:nvPr/>
        </p:nvSpPr>
        <p:spPr>
          <a:xfrm>
            <a:off x="5334000" y="5010150"/>
            <a:ext cx="9906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975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外设模块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B7EB52E-835D-42C7-8816-CBB9C41B41F8}"/>
              </a:ext>
            </a:extLst>
          </p:cNvPr>
          <p:cNvSpPr>
            <a:spLocks noGrp="1"/>
          </p:cNvSpPr>
          <p:nvPr/>
        </p:nvSpPr>
        <p:spPr>
          <a:xfrm>
            <a:off x="6705600" y="4495800"/>
            <a:ext cx="1333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FE7F4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352E84-6818-4718-81EC-3A8CEB38DC5A}"/>
              </a:ext>
            </a:extLst>
          </p:cNvPr>
          <p:cNvSpPr>
            <a:spLocks noGrp="1"/>
          </p:cNvSpPr>
          <p:nvPr/>
        </p:nvSpPr>
        <p:spPr>
          <a:xfrm>
            <a:off x="6877050" y="4629150"/>
            <a:ext cx="9906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2100" b="1" i="0">
                <a:solidFill>
                  <a:srgbClr val="19A6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9A65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CDCEFF7-5817-4643-AC58-4A0A43CA9E30}"/>
              </a:ext>
            </a:extLst>
          </p:cNvPr>
          <p:cNvSpPr>
            <a:spLocks noGrp="1"/>
          </p:cNvSpPr>
          <p:nvPr/>
        </p:nvSpPr>
        <p:spPr>
          <a:xfrm>
            <a:off x="6877050" y="5010150"/>
            <a:ext cx="9906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975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经典小游戏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89D6545-6619-46D6-AD50-93F66107F4D9}"/>
              </a:ext>
            </a:extLst>
          </p:cNvPr>
          <p:cNvSpPr>
            <a:spLocks noGrp="1"/>
          </p:cNvSpPr>
          <p:nvPr/>
        </p:nvSpPr>
        <p:spPr>
          <a:xfrm>
            <a:off x="8248650" y="4495800"/>
            <a:ext cx="16764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FE7F4"/>
            </a:solidFill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7B2BFA3-0D16-49A2-AB50-2C109DBCF885}"/>
              </a:ext>
            </a:extLst>
          </p:cNvPr>
          <p:cNvSpPr>
            <a:spLocks noGrp="1"/>
          </p:cNvSpPr>
          <p:nvPr/>
        </p:nvSpPr>
        <p:spPr>
          <a:xfrm>
            <a:off x="8420100" y="4629150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2100" b="1" i="0">
                <a:solidFill>
                  <a:srgbClr val="F05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05A16"/>
                </a:solidFill>
                <a:latin typeface="Microsoft YaHei"/>
                <a:ea typeface="Microsoft YaHei"/>
                <a:cs typeface="Microsoft YaHei"/>
              </a:rPr>
              <a:t>MQTT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594E825-8937-437C-98D0-958779298E41}"/>
              </a:ext>
            </a:extLst>
          </p:cNvPr>
          <p:cNvSpPr>
            <a:spLocks noGrp="1"/>
          </p:cNvSpPr>
          <p:nvPr/>
        </p:nvSpPr>
        <p:spPr>
          <a:xfrm>
            <a:off x="8420100" y="5010150"/>
            <a:ext cx="1333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975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发布 / 订阅通信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B050F3F-54AF-46D1-A38F-7FBDB9FA8CFE}"/>
              </a:ext>
            </a:extLst>
          </p:cNvPr>
          <p:cNvSpPr>
            <a:spLocks noGrp="1"/>
          </p:cNvSpPr>
          <p:nvPr/>
        </p:nvSpPr>
        <p:spPr>
          <a:xfrm>
            <a:off x="5162550" y="6000750"/>
            <a:ext cx="5905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 dirty="0" err="1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汇报人：巫泉彬</a:t>
            </a:r>
            <a:r>
              <a:rPr lang="en-US" sz="1050" b="0" i="0" dirty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altLang="en-US" sz="1050" b="0" i="0" dirty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蓝钿玉</a:t>
            </a:r>
            <a:r>
              <a:rPr sz="1050" b="0" i="0" dirty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 | 学号：25215150314 </a:t>
            </a:r>
            <a:r>
              <a:rPr lang="en-US" sz="1050" b="0" i="0" dirty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25215150317 </a:t>
            </a:r>
            <a:r>
              <a:rPr sz="1050" b="0" i="0" dirty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| 2026/6/12</a:t>
            </a:r>
          </a:p>
        </p:txBody>
      </p:sp>
    </p:spTree>
    <p:extLst>
      <p:ext uri="{BB962C8B-B14F-4D97-AF65-F5344CB8AC3E}">
        <p14:creationId xmlns:p14="http://schemas.microsoft.com/office/powerpoint/2010/main" val="1822155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kicker-label">
            <a:extLst>
              <a:ext uri="{FF2B5EF4-FFF2-40B4-BE49-F238E27FC236}">
                <a16:creationId xmlns:a16="http://schemas.microsoft.com/office/drawing/2014/main" id="{ED6039E3-6FFB-453B-AB92-180E2621AF1C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19050" rIns="0" bIns="19050" anchor="ctr"/>
          <a:lstStyle/>
          <a:p>
            <a:pPr algn="l">
              <a:lnSpc>
                <a:spcPct val="118000"/>
              </a:lnSpc>
              <a:buNone/>
              <a:defRPr sz="10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MAIN CONTENT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FF17A72-75B2-4568-931B-568F15265122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419100" cy="38100"/>
          </a:xfrm>
          <a:prstGeom prst="rect">
            <a:avLst/>
          </a:prstGeom>
          <a:solidFill>
            <a:srgbClr val="3F7BD8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F8DFD0D-6619-4B4F-B122-D4712E93AA50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2870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汇报沿着“项目设计—南向实现—北向实现—总结”展开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2DBBF38-AF01-431A-9812-CC2A1614D010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9144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20000"/>
              </a:lnSpc>
              <a:buNone/>
              <a:defRPr sz="12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参考原 PPT 的章节节奏，结合本项目的游戏竞技台内容重组。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8E55443-22DF-4814-A114-22CD74C875FF}"/>
              </a:ext>
            </a:extLst>
          </p:cNvPr>
          <p:cNvSpPr>
            <a:spLocks noGrp="1"/>
          </p:cNvSpPr>
          <p:nvPr/>
        </p:nvSpPr>
        <p:spPr>
          <a:xfrm>
            <a:off x="876300" y="2152650"/>
            <a:ext cx="685800" cy="552450"/>
          </a:xfrm>
          <a:prstGeom prst="roundRect">
            <a:avLst>
              <a:gd name="adj" fmla="val 13793"/>
            </a:avLst>
          </a:prstGeom>
          <a:solidFill>
            <a:srgbClr val="3F7BD8"/>
          </a:solidFill>
          <a:ln w="9525">
            <a:solidFill>
              <a:srgbClr val="DDE7F6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899D9FB-2A82-4DA8-83D8-3DC267B5E944}"/>
              </a:ext>
            </a:extLst>
          </p:cNvPr>
          <p:cNvSpPr>
            <a:spLocks noGrp="1"/>
          </p:cNvSpPr>
          <p:nvPr/>
        </p:nvSpPr>
        <p:spPr>
          <a:xfrm>
            <a:off x="876300" y="2228850"/>
            <a:ext cx="685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lnSpc>
                <a:spcPct val="118000"/>
              </a:lnSpc>
              <a:buNone/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0E7A6D-34F1-4DEE-A21B-CBC9B88AE312}"/>
              </a:ext>
            </a:extLst>
          </p:cNvPr>
          <p:cNvSpPr>
            <a:spLocks noGrp="1"/>
          </p:cNvSpPr>
          <p:nvPr/>
        </p:nvSpPr>
        <p:spPr>
          <a:xfrm>
            <a:off x="1847850" y="2171700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18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项目设计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347D298-9FC4-4542-A65B-8BB29B36DF50}"/>
              </a:ext>
            </a:extLst>
          </p:cNvPr>
          <p:cNvSpPr>
            <a:spLocks noGrp="1"/>
          </p:cNvSpPr>
          <p:nvPr/>
        </p:nvSpPr>
        <p:spPr>
          <a:xfrm>
            <a:off x="1847850" y="2533650"/>
            <a:ext cx="4381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1125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场景、目标、整体功能和系统架构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13CF01C-707A-45EF-92B8-9BCC647DFBA4}"/>
              </a:ext>
            </a:extLst>
          </p:cNvPr>
          <p:cNvSpPr>
            <a:spLocks noGrp="1"/>
          </p:cNvSpPr>
          <p:nvPr/>
        </p:nvSpPr>
        <p:spPr>
          <a:xfrm>
            <a:off x="6667500" y="2409825"/>
            <a:ext cx="3333750" cy="19050"/>
          </a:xfrm>
          <a:prstGeom prst="rect">
            <a:avLst/>
          </a:prstGeom>
          <a:solidFill>
            <a:srgbClr val="DBE5F4"/>
          </a:solidFill>
          <a:ln w="0">
            <a:noFill/>
          </a:ln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4189A05-1C7B-43C6-9CAB-E41DBCB83699}"/>
              </a:ext>
            </a:extLst>
          </p:cNvPr>
          <p:cNvSpPr>
            <a:spLocks noGrp="1"/>
          </p:cNvSpPr>
          <p:nvPr/>
        </p:nvSpPr>
        <p:spPr>
          <a:xfrm>
            <a:off x="10287000" y="2266950"/>
            <a:ext cx="1104900" cy="323850"/>
          </a:xfrm>
          <a:prstGeom prst="roundRect">
            <a:avLst>
              <a:gd name="adj" fmla="val 23529"/>
            </a:avLst>
          </a:prstGeom>
          <a:solidFill>
            <a:srgbClr val="3F7BD8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29453D-0260-4A2A-9D08-DD7533D5F351}"/>
              </a:ext>
            </a:extLst>
          </p:cNvPr>
          <p:cNvSpPr>
            <a:spLocks noGrp="1"/>
          </p:cNvSpPr>
          <p:nvPr/>
        </p:nvSpPr>
        <p:spPr>
          <a:xfrm>
            <a:off x="10287000" y="2286000"/>
            <a:ext cx="110490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0" rIns="76200" bIns="0" anchor="ctr"/>
          <a:lstStyle/>
          <a:p>
            <a:pPr algn="ctr">
              <a:lnSpc>
                <a:spcPct val="118000"/>
              </a:lnSpc>
              <a:buNone/>
              <a:defRPr sz="9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项目设计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E8ED811-A3E8-4428-AAAF-A9CC075911BD}"/>
              </a:ext>
            </a:extLst>
          </p:cNvPr>
          <p:cNvSpPr>
            <a:spLocks noGrp="1"/>
          </p:cNvSpPr>
          <p:nvPr/>
        </p:nvSpPr>
        <p:spPr>
          <a:xfrm>
            <a:off x="876300" y="3028950"/>
            <a:ext cx="6858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DE7F6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2D169C-BC1C-4AE6-AA8A-7981EA127860}"/>
              </a:ext>
            </a:extLst>
          </p:cNvPr>
          <p:cNvSpPr>
            <a:spLocks noGrp="1"/>
          </p:cNvSpPr>
          <p:nvPr/>
        </p:nvSpPr>
        <p:spPr>
          <a:xfrm>
            <a:off x="876300" y="3105150"/>
            <a:ext cx="685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lnSpc>
                <a:spcPct val="118000"/>
              </a:lnSpc>
              <a:buNone/>
              <a:defRPr sz="16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4A0CD19-A49A-4E8B-92A5-4F2F871EAF21}"/>
              </a:ext>
            </a:extLst>
          </p:cNvPr>
          <p:cNvSpPr>
            <a:spLocks noGrp="1"/>
          </p:cNvSpPr>
          <p:nvPr/>
        </p:nvSpPr>
        <p:spPr>
          <a:xfrm>
            <a:off x="1847850" y="3048000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18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南向实现部分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A2F912C-F9FE-4443-98EC-756A57A4088F}"/>
              </a:ext>
            </a:extLst>
          </p:cNvPr>
          <p:cNvSpPr>
            <a:spLocks noGrp="1"/>
          </p:cNvSpPr>
          <p:nvPr/>
        </p:nvSpPr>
        <p:spPr>
          <a:xfrm>
            <a:off x="1847850" y="3409950"/>
            <a:ext cx="4381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1125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ESP32 与蜂鸣器、AD 按键、数码管、矩阵灯交互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0F07DC5-D224-48F9-9ABE-D3CEFBB9CC03}"/>
              </a:ext>
            </a:extLst>
          </p:cNvPr>
          <p:cNvSpPr>
            <a:spLocks noGrp="1"/>
          </p:cNvSpPr>
          <p:nvPr/>
        </p:nvSpPr>
        <p:spPr>
          <a:xfrm>
            <a:off x="6667500" y="3286125"/>
            <a:ext cx="3333750" cy="19050"/>
          </a:xfrm>
          <a:prstGeom prst="rect">
            <a:avLst/>
          </a:prstGeom>
          <a:solidFill>
            <a:srgbClr val="DBE5F4"/>
          </a:solidFill>
          <a:ln w="0">
            <a:noFill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873F4B5-87F6-4562-B789-20382F8D264C}"/>
              </a:ext>
            </a:extLst>
          </p:cNvPr>
          <p:cNvSpPr>
            <a:spLocks noGrp="1"/>
          </p:cNvSpPr>
          <p:nvPr/>
        </p:nvSpPr>
        <p:spPr>
          <a:xfrm>
            <a:off x="10287000" y="3143250"/>
            <a:ext cx="1104900" cy="323850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B9A2669-F4DF-4BD5-B24F-8B7A2C6278F6}"/>
              </a:ext>
            </a:extLst>
          </p:cNvPr>
          <p:cNvSpPr>
            <a:spLocks noGrp="1"/>
          </p:cNvSpPr>
          <p:nvPr/>
        </p:nvSpPr>
        <p:spPr>
          <a:xfrm>
            <a:off x="10287000" y="3162300"/>
            <a:ext cx="110490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0" rIns="76200" bIns="0" anchor="ctr"/>
          <a:lstStyle/>
          <a:p>
            <a:pPr algn="ctr">
              <a:lnSpc>
                <a:spcPct val="118000"/>
              </a:lnSpc>
              <a:buNone/>
              <a:defRPr sz="975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南向实现部分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E5B80FB-6CC9-4FB3-82F9-D1427FFFBB1E}"/>
              </a:ext>
            </a:extLst>
          </p:cNvPr>
          <p:cNvSpPr>
            <a:spLocks noGrp="1"/>
          </p:cNvSpPr>
          <p:nvPr/>
        </p:nvSpPr>
        <p:spPr>
          <a:xfrm>
            <a:off x="876300" y="3905250"/>
            <a:ext cx="6858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DE7F6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6A6C0C3-FCC6-4726-A613-D1FDEFB85D2B}"/>
              </a:ext>
            </a:extLst>
          </p:cNvPr>
          <p:cNvSpPr>
            <a:spLocks noGrp="1"/>
          </p:cNvSpPr>
          <p:nvPr/>
        </p:nvSpPr>
        <p:spPr>
          <a:xfrm>
            <a:off x="876300" y="3981450"/>
            <a:ext cx="685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lnSpc>
                <a:spcPct val="118000"/>
              </a:lnSpc>
              <a:buNone/>
              <a:defRPr sz="16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DF6B263-6561-4466-B602-831777C57109}"/>
              </a:ext>
            </a:extLst>
          </p:cNvPr>
          <p:cNvSpPr>
            <a:spLocks noGrp="1"/>
          </p:cNvSpPr>
          <p:nvPr/>
        </p:nvSpPr>
        <p:spPr>
          <a:xfrm>
            <a:off x="1847850" y="3924300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18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北向实现部分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9C5217C-9DD8-4C0A-809E-4A6AC730E258}"/>
              </a:ext>
            </a:extLst>
          </p:cNvPr>
          <p:cNvSpPr>
            <a:spLocks noGrp="1"/>
          </p:cNvSpPr>
          <p:nvPr/>
        </p:nvSpPr>
        <p:spPr>
          <a:xfrm>
            <a:off x="1847850" y="4286250"/>
            <a:ext cx="4381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1125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HarmonyOS APP、MQTT Broker 与消息主题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6C4F8C5-D81F-4324-9DDF-0E023B148E48}"/>
              </a:ext>
            </a:extLst>
          </p:cNvPr>
          <p:cNvSpPr>
            <a:spLocks noGrp="1"/>
          </p:cNvSpPr>
          <p:nvPr/>
        </p:nvSpPr>
        <p:spPr>
          <a:xfrm>
            <a:off x="6667500" y="4162425"/>
            <a:ext cx="3333750" cy="19050"/>
          </a:xfrm>
          <a:prstGeom prst="rect">
            <a:avLst/>
          </a:prstGeom>
          <a:solidFill>
            <a:srgbClr val="DBE5F4"/>
          </a:solidFill>
          <a:ln w="0">
            <a:noFill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9EDE911-105B-4328-940A-8B157A5D91A6}"/>
              </a:ext>
            </a:extLst>
          </p:cNvPr>
          <p:cNvSpPr>
            <a:spLocks noGrp="1"/>
          </p:cNvSpPr>
          <p:nvPr/>
        </p:nvSpPr>
        <p:spPr>
          <a:xfrm>
            <a:off x="10287000" y="4019550"/>
            <a:ext cx="1104900" cy="323850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0">
            <a:noFill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794DEB2-6F81-46B2-99D5-1E16BD71CDBF}"/>
              </a:ext>
            </a:extLst>
          </p:cNvPr>
          <p:cNvSpPr>
            <a:spLocks noGrp="1"/>
          </p:cNvSpPr>
          <p:nvPr/>
        </p:nvSpPr>
        <p:spPr>
          <a:xfrm>
            <a:off x="10287000" y="4038600"/>
            <a:ext cx="110490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0" rIns="76200" bIns="0" anchor="ctr"/>
          <a:lstStyle/>
          <a:p>
            <a:pPr algn="ctr">
              <a:lnSpc>
                <a:spcPct val="118000"/>
              </a:lnSpc>
              <a:buNone/>
              <a:defRPr sz="975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北向实现部分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810270A3-A6E4-4458-BA60-188430053F41}"/>
              </a:ext>
            </a:extLst>
          </p:cNvPr>
          <p:cNvSpPr>
            <a:spLocks noGrp="1"/>
          </p:cNvSpPr>
          <p:nvPr/>
        </p:nvSpPr>
        <p:spPr>
          <a:xfrm>
            <a:off x="876300" y="4781550"/>
            <a:ext cx="6858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DE7F6"/>
            </a:solidFill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7A60DF1-F668-4984-99E8-5A52631C98AC}"/>
              </a:ext>
            </a:extLst>
          </p:cNvPr>
          <p:cNvSpPr>
            <a:spLocks noGrp="1"/>
          </p:cNvSpPr>
          <p:nvPr/>
        </p:nvSpPr>
        <p:spPr>
          <a:xfrm>
            <a:off x="876300" y="4857750"/>
            <a:ext cx="685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lnSpc>
                <a:spcPct val="118000"/>
              </a:lnSpc>
              <a:buNone/>
              <a:defRPr sz="16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BDFAA3D-2F2C-4107-9CF6-239476752917}"/>
              </a:ext>
            </a:extLst>
          </p:cNvPr>
          <p:cNvSpPr>
            <a:spLocks noGrp="1"/>
          </p:cNvSpPr>
          <p:nvPr/>
        </p:nvSpPr>
        <p:spPr>
          <a:xfrm>
            <a:off x="1847850" y="4800600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18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8F36CBB-E8D1-4DF9-9095-4E99C8722AD9}"/>
              </a:ext>
            </a:extLst>
          </p:cNvPr>
          <p:cNvSpPr>
            <a:spLocks noGrp="1"/>
          </p:cNvSpPr>
          <p:nvPr/>
        </p:nvSpPr>
        <p:spPr>
          <a:xfrm>
            <a:off x="1847850" y="5162550"/>
            <a:ext cx="4381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1125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成果展示、问题收获与改进方向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C8914AD-1767-4D61-95F2-3F12F4548AC3}"/>
              </a:ext>
            </a:extLst>
          </p:cNvPr>
          <p:cNvSpPr>
            <a:spLocks noGrp="1"/>
          </p:cNvSpPr>
          <p:nvPr/>
        </p:nvSpPr>
        <p:spPr>
          <a:xfrm>
            <a:off x="6667500" y="5038725"/>
            <a:ext cx="3333750" cy="19050"/>
          </a:xfrm>
          <a:prstGeom prst="rect">
            <a:avLst/>
          </a:prstGeom>
          <a:solidFill>
            <a:srgbClr val="DBE5F4"/>
          </a:solidFill>
          <a:ln w="0">
            <a:noFill/>
          </a:ln>
        </p:spPr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E13E1A2A-0BBE-4DF6-8588-D5239020E893}"/>
              </a:ext>
            </a:extLst>
          </p:cNvPr>
          <p:cNvSpPr>
            <a:spLocks noGrp="1"/>
          </p:cNvSpPr>
          <p:nvPr/>
        </p:nvSpPr>
        <p:spPr>
          <a:xfrm>
            <a:off x="10287000" y="4895850"/>
            <a:ext cx="1104900" cy="323850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0">
            <a:noFill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264A149-3E2F-434C-AB2B-3DD1087BF7F2}"/>
              </a:ext>
            </a:extLst>
          </p:cNvPr>
          <p:cNvSpPr>
            <a:spLocks noGrp="1"/>
          </p:cNvSpPr>
          <p:nvPr/>
        </p:nvSpPr>
        <p:spPr>
          <a:xfrm>
            <a:off x="10287000" y="4914900"/>
            <a:ext cx="110490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0" rIns="76200" bIns="0" anchor="ctr"/>
          <a:lstStyle/>
          <a:p>
            <a:pPr algn="ctr">
              <a:lnSpc>
                <a:spcPct val="118000"/>
              </a:lnSpc>
              <a:buNone/>
              <a:defRPr sz="975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66213" y="1733550"/>
            <a:ext cx="1993474" cy="4362450"/>
          </a:xfrm>
          <a:prstGeom prst="roundRect">
            <a:avLst>
              <a:gd name="adj" fmla="val 7627"/>
            </a:avLst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003A8BB4-0D27-4C24-9BA2-FAED386EF079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9982200" cy="9525"/>
          </a:xfrm>
          <a:prstGeom prst="rect">
            <a:avLst/>
          </a:prstGeom>
          <a:solidFill>
            <a:srgbClr val="D9E2F3"/>
          </a:solidFill>
          <a:ln w="0">
            <a:noFill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0DA4F3E-6ED0-475A-8522-87451F69DCFF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750" b="0" i="0">
                <a:solidFill>
                  <a:srgbClr val="7890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890AD"/>
                </a:solidFill>
                <a:latin typeface="Microsoft YaHei"/>
                <a:ea typeface="Microsoft YaHei"/>
                <a:cs typeface="Microsoft YaHei"/>
              </a:rPr>
              <a:t>ESP32智能游戏竞技台 | OpenHarmony + MQTT + 外设联动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5C0607B-444D-4FFA-9F01-4D34C6AB054F}"/>
              </a:ext>
            </a:extLst>
          </p:cNvPr>
          <p:cNvSpPr>
            <a:spLocks noGrp="1"/>
          </p:cNvSpPr>
          <p:nvPr/>
        </p:nvSpPr>
        <p:spPr>
          <a:xfrm>
            <a:off x="10820400" y="6343650"/>
            <a:ext cx="666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r">
              <a:lnSpc>
                <a:spcPct val="118000"/>
              </a:lnSpc>
              <a:buNone/>
              <a:defRPr sz="13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43971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07EBCC7C-E605-44FB-BCBE-890004E0C2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930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DE2713B-05C3-48FA-BAF0-81BE54D1ADD0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76200" cy="4476750"/>
          </a:xfrm>
          <a:prstGeom prst="rect">
            <a:avLst/>
          </a:prstGeom>
          <a:solidFill>
            <a:srgbClr val="3F7BD8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7F21ED-53BC-41F2-96CA-2406A6C3EA33}"/>
              </a:ext>
            </a:extLst>
          </p:cNvPr>
          <p:cNvSpPr>
            <a:spLocks noGrp="1"/>
          </p:cNvSpPr>
          <p:nvPr/>
        </p:nvSpPr>
        <p:spPr>
          <a:xfrm>
            <a:off x="838200" y="1104900"/>
            <a:ext cx="857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2100" b="1" i="0">
                <a:solidFill>
                  <a:srgbClr val="77A6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77A6F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7408A51-F2BB-43BA-848C-BF9101523839}"/>
              </a:ext>
            </a:extLst>
          </p:cNvPr>
          <p:cNvSpPr>
            <a:spLocks noGrp="1"/>
          </p:cNvSpPr>
          <p:nvPr/>
        </p:nvSpPr>
        <p:spPr>
          <a:xfrm>
            <a:off x="838200" y="1771650"/>
            <a:ext cx="609600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3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项目设计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2757476-80B8-4001-9CA5-D1AE9B29CB22}"/>
              </a:ext>
            </a:extLst>
          </p:cNvPr>
          <p:cNvSpPr>
            <a:spLocks noGrp="1"/>
          </p:cNvSpPr>
          <p:nvPr/>
        </p:nvSpPr>
        <p:spPr>
          <a:xfrm>
            <a:off x="876300" y="2724150"/>
            <a:ext cx="4953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1350" b="0" i="0">
                <a:solidFill>
                  <a:srgbClr val="A9BD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A9BDE0"/>
                </a:solidFill>
                <a:latin typeface="Microsoft YaHei"/>
                <a:ea typeface="Microsoft YaHei"/>
                <a:cs typeface="Microsoft YaHei"/>
              </a:rPr>
              <a:t>Project Design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9C5BE79-C24A-42F2-92B6-439FD0765968}"/>
              </a:ext>
            </a:extLst>
          </p:cNvPr>
          <p:cNvSpPr>
            <a:spLocks noGrp="1"/>
          </p:cNvSpPr>
          <p:nvPr/>
        </p:nvSpPr>
        <p:spPr>
          <a:xfrm>
            <a:off x="5666459" y="1696446"/>
            <a:ext cx="1841501" cy="904168"/>
          </a:xfrm>
          <a:prstGeom prst="roundRect">
            <a:avLst>
              <a:gd name="adj" fmla="val 9524"/>
            </a:avLst>
          </a:prstGeom>
          <a:solidFill>
            <a:srgbClr val="3F7BD8"/>
          </a:solidFill>
          <a:ln w="9525">
            <a:solidFill>
              <a:srgbClr val="315280"/>
            </a:solidFill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691B203-3ED6-484E-8D40-7F6A4DC62A2E}"/>
              </a:ext>
            </a:extLst>
          </p:cNvPr>
          <p:cNvSpPr>
            <a:spLocks noGrp="1"/>
          </p:cNvSpPr>
          <p:nvPr/>
        </p:nvSpPr>
        <p:spPr>
          <a:xfrm>
            <a:off x="6118119" y="1958857"/>
            <a:ext cx="914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lnSpc>
                <a:spcPct val="118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ESP32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B704983-C11D-4121-AE44-E03AD70420B2}"/>
              </a:ext>
            </a:extLst>
          </p:cNvPr>
          <p:cNvSpPr>
            <a:spLocks noGrp="1"/>
          </p:cNvSpPr>
          <p:nvPr/>
        </p:nvSpPr>
        <p:spPr>
          <a:xfrm>
            <a:off x="8450402" y="1687271"/>
            <a:ext cx="2414618" cy="922519"/>
          </a:xfrm>
          <a:prstGeom prst="roundRect">
            <a:avLst>
              <a:gd name="adj" fmla="val 9524"/>
            </a:avLst>
          </a:prstGeom>
          <a:solidFill>
            <a:srgbClr val="172946"/>
          </a:solidFill>
          <a:ln w="9525">
            <a:solidFill>
              <a:srgbClr val="315280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39F1271-E318-4B33-8F78-D099AEDDB90C}"/>
              </a:ext>
            </a:extLst>
          </p:cNvPr>
          <p:cNvSpPr>
            <a:spLocks noGrp="1"/>
          </p:cNvSpPr>
          <p:nvPr/>
        </p:nvSpPr>
        <p:spPr>
          <a:xfrm>
            <a:off x="8691864" y="1953847"/>
            <a:ext cx="1931694" cy="3294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lnSpc>
                <a:spcPct val="118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HarmonyOS APP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67EC93B-D908-4EB3-835A-D5124B175D99}"/>
              </a:ext>
            </a:extLst>
          </p:cNvPr>
          <p:cNvSpPr>
            <a:spLocks noGrp="1"/>
          </p:cNvSpPr>
          <p:nvPr/>
        </p:nvSpPr>
        <p:spPr>
          <a:xfrm>
            <a:off x="5794356" y="2931782"/>
            <a:ext cx="1595214" cy="994436"/>
          </a:xfrm>
          <a:prstGeom prst="roundRect">
            <a:avLst>
              <a:gd name="adj" fmla="val 9524"/>
            </a:avLst>
          </a:prstGeom>
          <a:solidFill>
            <a:srgbClr val="172946"/>
          </a:solidFill>
          <a:ln w="9525">
            <a:solidFill>
              <a:srgbClr val="315280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7CBA7C7-45FF-4186-BBA1-2D1D3CF5F6AF}"/>
              </a:ext>
            </a:extLst>
          </p:cNvPr>
          <p:cNvSpPr>
            <a:spLocks noGrp="1"/>
          </p:cNvSpPr>
          <p:nvPr/>
        </p:nvSpPr>
        <p:spPr>
          <a:xfrm>
            <a:off x="5949125" y="3219441"/>
            <a:ext cx="1276171" cy="35515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lnSpc>
                <a:spcPct val="118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MQTT Broker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C9757D3-0592-4287-9239-49327478EB67}"/>
              </a:ext>
            </a:extLst>
          </p:cNvPr>
          <p:cNvSpPr>
            <a:spLocks noGrp="1"/>
          </p:cNvSpPr>
          <p:nvPr/>
        </p:nvSpPr>
        <p:spPr>
          <a:xfrm>
            <a:off x="8785567" y="2931782"/>
            <a:ext cx="1961790" cy="1189092"/>
          </a:xfrm>
          <a:prstGeom prst="roundRect">
            <a:avLst>
              <a:gd name="adj" fmla="val 9524"/>
            </a:avLst>
          </a:prstGeom>
          <a:solidFill>
            <a:srgbClr val="172946"/>
          </a:solidFill>
          <a:ln w="9525">
            <a:solidFill>
              <a:srgbClr val="315280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C2AD28B-FC52-44B7-92A7-39E1F9D15FC3}"/>
              </a:ext>
            </a:extLst>
          </p:cNvPr>
          <p:cNvSpPr>
            <a:spLocks noGrp="1"/>
          </p:cNvSpPr>
          <p:nvPr/>
        </p:nvSpPr>
        <p:spPr>
          <a:xfrm>
            <a:off x="9258300" y="3289522"/>
            <a:ext cx="1054696" cy="42467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lnSpc>
                <a:spcPct val="118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8x8 Matrix</a:t>
            </a:r>
          </a:p>
        </p:txBody>
      </p:sp>
    </p:spTree>
    <p:extLst>
      <p:ext uri="{BB962C8B-B14F-4D97-AF65-F5344CB8AC3E}">
        <p14:creationId xmlns:p14="http://schemas.microsoft.com/office/powerpoint/2010/main" val="1232994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kicker-label">
            <a:extLst>
              <a:ext uri="{FF2B5EF4-FFF2-40B4-BE49-F238E27FC236}">
                <a16:creationId xmlns:a16="http://schemas.microsoft.com/office/drawing/2014/main" id="{DB38F2D8-9568-4E0B-87CF-5790B4D7EBC7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19050" rIns="0" bIns="19050" anchor="ctr"/>
          <a:lstStyle/>
          <a:p>
            <a:pPr algn="l">
              <a:lnSpc>
                <a:spcPct val="118000"/>
              </a:lnSpc>
              <a:buNone/>
              <a:defRPr sz="10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PROJECT DESIGN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9A58751-C43D-47F0-8161-80F6AD6F90C8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419100" cy="38100"/>
          </a:xfrm>
          <a:prstGeom prst="rect">
            <a:avLst/>
          </a:prstGeom>
          <a:solidFill>
            <a:srgbClr val="3F7BD8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F0EDEF6-7AFB-4366-8313-7778155F016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287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2325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系统把手机 APP、MQTT 和开发板外设组合成一个可交互的游戏终端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09F2F69-7270-4C27-9444-29501550A0D7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9144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20000"/>
              </a:lnSpc>
              <a:buNone/>
              <a:defRPr sz="12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 dirty="0" err="1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核心不是单个传感器演示，而是把输入、显示、音效和云端消息串成完整闭环</a:t>
            </a:r>
            <a:r>
              <a:rPr sz="1200" b="0" i="0" dirty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85FE27F-B2C4-4B87-8565-378A1607681F}"/>
              </a:ext>
            </a:extLst>
          </p:cNvPr>
          <p:cNvSpPr>
            <a:spLocks noGrp="1"/>
          </p:cNvSpPr>
          <p:nvPr/>
        </p:nvSpPr>
        <p:spPr>
          <a:xfrm>
            <a:off x="8039100" y="1390650"/>
            <a:ext cx="2381250" cy="4762500"/>
          </a:xfrm>
          <a:prstGeom prst="roundRect">
            <a:avLst>
              <a:gd name="adj" fmla="val 9600"/>
            </a:avLst>
          </a:prstGeom>
          <a:solidFill>
            <a:srgbClr val="111827"/>
          </a:solidFill>
          <a:ln w="9525">
            <a:solidFill>
              <a:srgbClr val="B9C4D8"/>
            </a:solidFill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84320" y="1447800"/>
            <a:ext cx="2090810" cy="4648200"/>
          </a:xfrm>
          <a:prstGeom prst="roundRect">
            <a:avLst>
              <a:gd name="adj" fmla="val 8403"/>
            </a:avLst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636E2C70-B17C-4E21-85DD-8FBFE2C08AA3}"/>
              </a:ext>
            </a:extLst>
          </p:cNvPr>
          <p:cNvSpPr>
            <a:spLocks noGrp="1"/>
          </p:cNvSpPr>
          <p:nvPr/>
        </p:nvSpPr>
        <p:spPr>
          <a:xfrm>
            <a:off x="5257800" y="2364437"/>
            <a:ext cx="12382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FE7F4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7B0D6FB-09CF-4BD1-89BB-C96D72BC59D1}"/>
              </a:ext>
            </a:extLst>
          </p:cNvPr>
          <p:cNvSpPr>
            <a:spLocks noGrp="1"/>
          </p:cNvSpPr>
          <p:nvPr/>
        </p:nvSpPr>
        <p:spPr>
          <a:xfrm>
            <a:off x="5391150" y="2497787"/>
            <a:ext cx="9715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12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 dirty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APP </a:t>
            </a:r>
            <a:r>
              <a:rPr sz="1200" b="1" i="0" dirty="0" err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1200" b="1" i="0" dirty="0">
              <a:solidFill>
                <a:srgbClr val="14213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D5B21F8-8423-4A68-A299-734D7382A28D}"/>
              </a:ext>
            </a:extLst>
          </p:cNvPr>
          <p:cNvSpPr>
            <a:spLocks noGrp="1"/>
          </p:cNvSpPr>
          <p:nvPr/>
        </p:nvSpPr>
        <p:spPr>
          <a:xfrm>
            <a:off x="5391150" y="2821637"/>
            <a:ext cx="9715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825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 dirty="0" err="1">
                <a:solidFill>
                  <a:srgbClr val="697993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YaHei"/>
              </a:rPr>
              <a:t>选择游戏、查看成就、控制矩阵灯、接收游戏结果</a:t>
            </a:r>
            <a:endParaRPr sz="900" b="1" i="0" dirty="0">
              <a:solidFill>
                <a:srgbClr val="697993"/>
              </a:solidFill>
              <a:latin typeface="宋体" panose="02010600030101010101" pitchFamily="2" charset="-122"/>
              <a:ea typeface="宋体" panose="02010600030101010101" pitchFamily="2" charset="-122"/>
              <a:cs typeface="Microsoft YaHe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0728B46-08D0-4D4A-B589-E2B26939A323}"/>
              </a:ext>
            </a:extLst>
          </p:cNvPr>
          <p:cNvSpPr>
            <a:spLocks noGrp="1"/>
          </p:cNvSpPr>
          <p:nvPr/>
        </p:nvSpPr>
        <p:spPr>
          <a:xfrm>
            <a:off x="6686550" y="2343150"/>
            <a:ext cx="1238250" cy="1104900"/>
          </a:xfrm>
          <a:prstGeom prst="roundRect">
            <a:avLst>
              <a:gd name="adj" fmla="val 6897"/>
            </a:avLst>
          </a:prstGeom>
          <a:solidFill>
            <a:srgbClr val="3F7BD8"/>
          </a:solidFill>
          <a:ln w="9525">
            <a:solidFill>
              <a:srgbClr val="DFE7F4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07C2AAC-2879-432B-A7C6-121083868898}"/>
              </a:ext>
            </a:extLst>
          </p:cNvPr>
          <p:cNvSpPr>
            <a:spLocks noGrp="1"/>
          </p:cNvSpPr>
          <p:nvPr/>
        </p:nvSpPr>
        <p:spPr>
          <a:xfrm>
            <a:off x="6819900" y="2476500"/>
            <a:ext cx="9715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MQTT 通信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7409DB7-7CE6-443B-A0A8-C562707B6C62}"/>
              </a:ext>
            </a:extLst>
          </p:cNvPr>
          <p:cNvSpPr>
            <a:spLocks noGrp="1"/>
          </p:cNvSpPr>
          <p:nvPr/>
        </p:nvSpPr>
        <p:spPr>
          <a:xfrm>
            <a:off x="6819900" y="2720975"/>
            <a:ext cx="9715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825" b="0" i="0">
                <a:solidFill>
                  <a:srgbClr val="EAF2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 dirty="0">
                <a:solidFill>
                  <a:srgbClr val="EAF2FF"/>
                </a:solidFill>
                <a:latin typeface="Microsoft YaHei"/>
                <a:ea typeface="Microsoft YaHei"/>
                <a:cs typeface="Microsoft YaHei"/>
              </a:rPr>
              <a:t>APP 与 ESP32 </a:t>
            </a:r>
            <a:r>
              <a:rPr sz="900" b="1" i="0" dirty="0" err="1">
                <a:solidFill>
                  <a:srgbClr val="EAF2FF"/>
                </a:solidFill>
                <a:latin typeface="Microsoft YaHei"/>
                <a:ea typeface="Microsoft YaHei"/>
                <a:cs typeface="Microsoft YaHei"/>
              </a:rPr>
              <a:t>通过</a:t>
            </a:r>
            <a:r>
              <a:rPr sz="900" b="1" i="0" dirty="0">
                <a:solidFill>
                  <a:srgbClr val="EAF2FF"/>
                </a:solidFill>
                <a:latin typeface="Microsoft YaHei"/>
                <a:ea typeface="Microsoft YaHei"/>
                <a:cs typeface="Microsoft YaHei"/>
              </a:rPr>
              <a:t> Broker </a:t>
            </a:r>
            <a:r>
              <a:rPr sz="900" b="1" i="0" dirty="0" err="1">
                <a:solidFill>
                  <a:srgbClr val="EAF2FF"/>
                </a:solidFill>
                <a:latin typeface="Microsoft YaHei"/>
                <a:ea typeface="Microsoft YaHei"/>
                <a:cs typeface="Microsoft YaHei"/>
              </a:rPr>
              <a:t>发布</a:t>
            </a:r>
            <a:r>
              <a:rPr sz="900" b="1" i="0" dirty="0">
                <a:solidFill>
                  <a:srgbClr val="EAF2FF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900" b="1" i="0" dirty="0" err="1">
                <a:solidFill>
                  <a:srgbClr val="EAF2FF"/>
                </a:solidFill>
                <a:latin typeface="Microsoft YaHei"/>
                <a:ea typeface="Microsoft YaHei"/>
                <a:cs typeface="Microsoft YaHei"/>
              </a:rPr>
              <a:t>订阅主题，完成双向消息交换</a:t>
            </a:r>
            <a:endParaRPr sz="900" b="1" i="0" dirty="0">
              <a:solidFill>
                <a:srgbClr val="EAF2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F083557-0979-4EB8-BE05-BBAA89EC33E4}"/>
              </a:ext>
            </a:extLst>
          </p:cNvPr>
          <p:cNvSpPr>
            <a:spLocks noGrp="1"/>
          </p:cNvSpPr>
          <p:nvPr/>
        </p:nvSpPr>
        <p:spPr>
          <a:xfrm>
            <a:off x="5257800" y="3638550"/>
            <a:ext cx="12382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FE7F4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8B36836-A041-43E0-8362-4E14EF299F78}"/>
              </a:ext>
            </a:extLst>
          </p:cNvPr>
          <p:cNvSpPr>
            <a:spLocks noGrp="1"/>
          </p:cNvSpPr>
          <p:nvPr/>
        </p:nvSpPr>
        <p:spPr>
          <a:xfrm>
            <a:off x="5391150" y="3771900"/>
            <a:ext cx="9715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12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 dirty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ESP32 </a:t>
            </a:r>
            <a:r>
              <a:rPr sz="1200" b="1" i="0" dirty="0" err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1200" b="1" i="0" dirty="0">
              <a:solidFill>
                <a:srgbClr val="14213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EA79412-D490-48C3-BD74-9EBE53CDE08F}"/>
              </a:ext>
            </a:extLst>
          </p:cNvPr>
          <p:cNvSpPr>
            <a:spLocks noGrp="1"/>
          </p:cNvSpPr>
          <p:nvPr/>
        </p:nvSpPr>
        <p:spPr>
          <a:xfrm>
            <a:off x="5391150" y="4095750"/>
            <a:ext cx="9715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825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 dirty="0" err="1">
                <a:latin typeface="Microsoft YaHei"/>
                <a:ea typeface="Microsoft YaHei"/>
                <a:cs typeface="Microsoft YaHei"/>
              </a:rPr>
              <a:t>读取按键、刷新显示、驱动蜂鸣器和矩阵屏</a:t>
            </a:r>
            <a:endParaRPr sz="900" b="1" i="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74C2404-FD3B-49D4-9692-BF6B25051D6A}"/>
              </a:ext>
            </a:extLst>
          </p:cNvPr>
          <p:cNvSpPr>
            <a:spLocks noGrp="1"/>
          </p:cNvSpPr>
          <p:nvPr/>
        </p:nvSpPr>
        <p:spPr>
          <a:xfrm>
            <a:off x="6686550" y="3638550"/>
            <a:ext cx="12382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FE7F4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AFDFCDE-8A7E-48D9-911B-950779835C0C}"/>
              </a:ext>
            </a:extLst>
          </p:cNvPr>
          <p:cNvSpPr>
            <a:spLocks noGrp="1"/>
          </p:cNvSpPr>
          <p:nvPr/>
        </p:nvSpPr>
        <p:spPr>
          <a:xfrm>
            <a:off x="6819900" y="3771900"/>
            <a:ext cx="9715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12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外设反馈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A8F512E-7577-497D-A032-E0D75C54070D}"/>
              </a:ext>
            </a:extLst>
          </p:cNvPr>
          <p:cNvSpPr>
            <a:spLocks noGrp="1"/>
          </p:cNvSpPr>
          <p:nvPr/>
        </p:nvSpPr>
        <p:spPr>
          <a:xfrm>
            <a:off x="6819900" y="4095750"/>
            <a:ext cx="9715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825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 dirty="0" err="1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矩阵灯展示画面，数码管显示分数，蜂鸣器输出音效</a:t>
            </a:r>
            <a:endParaRPr sz="900" b="1" i="0" dirty="0">
              <a:solidFill>
                <a:srgbClr val="69799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2AEA487-A6AC-4826-A14E-2DB542E55225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9982200" cy="9525"/>
          </a:xfrm>
          <a:prstGeom prst="rect">
            <a:avLst/>
          </a:prstGeom>
          <a:solidFill>
            <a:srgbClr val="D9E2F3"/>
          </a:solidFill>
          <a:ln w="0">
            <a:noFill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7548496-2A2C-475C-AC22-00A028731D0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750" b="0" i="0">
                <a:solidFill>
                  <a:srgbClr val="7890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890AD"/>
                </a:solidFill>
                <a:latin typeface="Microsoft YaHei"/>
                <a:ea typeface="Microsoft YaHei"/>
                <a:cs typeface="Microsoft YaHei"/>
              </a:rPr>
              <a:t>ESP32智能游戏竞技台 | OpenHarmony + MQTT + 外设联动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258752A-A05C-461A-854F-765151747F1E}"/>
              </a:ext>
            </a:extLst>
          </p:cNvPr>
          <p:cNvSpPr>
            <a:spLocks noGrp="1"/>
          </p:cNvSpPr>
          <p:nvPr/>
        </p:nvSpPr>
        <p:spPr>
          <a:xfrm>
            <a:off x="10820400" y="6343650"/>
            <a:ext cx="666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r">
              <a:lnSpc>
                <a:spcPct val="118000"/>
              </a:lnSpc>
              <a:buNone/>
              <a:defRPr sz="13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385DFF67-A242-6DC2-E3C1-6F87439B8B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" t="1044" r="-891" b="7441"/>
          <a:stretch>
            <a:fillRect/>
          </a:stretch>
        </p:blipFill>
        <p:spPr>
          <a:xfrm rot="16200000">
            <a:off x="1346147" y="1542305"/>
            <a:ext cx="2338396" cy="381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086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kicker-label">
            <a:extLst>
              <a:ext uri="{FF2B5EF4-FFF2-40B4-BE49-F238E27FC236}">
                <a16:creationId xmlns:a16="http://schemas.microsoft.com/office/drawing/2014/main" id="{23A85D84-E1FA-4669-BB17-D8A3EF2592F2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19050" rIns="0" bIns="19050" anchor="ctr"/>
          <a:lstStyle/>
          <a:p>
            <a:pPr algn="l">
              <a:lnSpc>
                <a:spcPct val="118000"/>
              </a:lnSpc>
              <a:buNone/>
              <a:defRPr sz="10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SYSTEM ARCHITECTURE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5B8F4B7-8059-4F85-B059-D14193CB7333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419100" cy="38100"/>
          </a:xfrm>
          <a:prstGeom prst="rect">
            <a:avLst/>
          </a:prstGeom>
          <a:solidFill>
            <a:srgbClr val="3F7BD8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B4A0FFE-A0EF-47BA-A213-D4D1871F1AA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287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2175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系统采用 APP、MQTT Broker、ESP32 三端发布/订阅架构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467A201-95C0-4C2E-BDDE-E951642645A6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9144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20000"/>
              </a:lnSpc>
              <a:buNone/>
              <a:defRPr sz="12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APP 负责选择与管理，Broker 负责消息中转，ESP32 负责硬件控制与状态回传。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DE94E1B-A88D-41DE-9A9E-D54A2CCF7E47}"/>
              </a:ext>
            </a:extLst>
          </p:cNvPr>
          <p:cNvSpPr>
            <a:spLocks noGrp="1"/>
          </p:cNvSpPr>
          <p:nvPr/>
        </p:nvSpPr>
        <p:spPr>
          <a:xfrm>
            <a:off x="5048250" y="2381250"/>
            <a:ext cx="2095500" cy="116205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9050">
            <a:solidFill>
              <a:srgbClr val="3F7BD8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884A7A7-8660-411B-A93C-E4DE03FA37E8}"/>
              </a:ext>
            </a:extLst>
          </p:cNvPr>
          <p:cNvSpPr>
            <a:spLocks noGrp="1"/>
          </p:cNvSpPr>
          <p:nvPr/>
        </p:nvSpPr>
        <p:spPr>
          <a:xfrm>
            <a:off x="5219700" y="2571750"/>
            <a:ext cx="175260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5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HIVEMQ / EMQX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3A27361-42CC-4584-82D1-3C7C2E1F7F60}"/>
              </a:ext>
            </a:extLst>
          </p:cNvPr>
          <p:cNvSpPr>
            <a:spLocks noGrp="1"/>
          </p:cNvSpPr>
          <p:nvPr/>
        </p:nvSpPr>
        <p:spPr>
          <a:xfrm>
            <a:off x="5219700" y="2914650"/>
            <a:ext cx="1752600" cy="26670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200" b="1" i="0">
                <a:solidFill>
                  <a:srgbClr val="F05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05A16"/>
                </a:solidFill>
                <a:latin typeface="Microsoft YaHei"/>
                <a:ea typeface="Microsoft YaHei"/>
                <a:cs typeface="Microsoft YaHei"/>
              </a:rPr>
              <a:t>MQTT Broker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C440B4B-48B6-4557-9EAA-18F65B7C23B2}"/>
              </a:ext>
            </a:extLst>
          </p:cNvPr>
          <p:cNvSpPr>
            <a:spLocks noGrp="1"/>
          </p:cNvSpPr>
          <p:nvPr/>
        </p:nvSpPr>
        <p:spPr>
          <a:xfrm>
            <a:off x="5219700" y="3219450"/>
            <a:ext cx="1752600" cy="2095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9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消息中转服务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BD734B0-9E35-4319-809C-177373B8A1D8}"/>
              </a:ext>
            </a:extLst>
          </p:cNvPr>
          <p:cNvSpPr>
            <a:spLocks noGrp="1"/>
          </p:cNvSpPr>
          <p:nvPr/>
        </p:nvSpPr>
        <p:spPr>
          <a:xfrm>
            <a:off x="819150" y="2076450"/>
            <a:ext cx="29527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FE7F4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FF81675-621B-48D2-8392-EAC34D1B097D}"/>
              </a:ext>
            </a:extLst>
          </p:cNvPr>
          <p:cNvSpPr>
            <a:spLocks noGrp="1"/>
          </p:cNvSpPr>
          <p:nvPr/>
        </p:nvSpPr>
        <p:spPr>
          <a:xfrm>
            <a:off x="1066800" y="365760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3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ESP32 开发板与外设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56C7AE9-37A4-4C1D-B4B1-41C195037A56}"/>
              </a:ext>
            </a:extLst>
          </p:cNvPr>
          <p:cNvSpPr>
            <a:spLocks noGrp="1"/>
          </p:cNvSpPr>
          <p:nvPr/>
        </p:nvSpPr>
        <p:spPr>
          <a:xfrm>
            <a:off x="8467725" y="1562100"/>
            <a:ext cx="2209800" cy="4286250"/>
          </a:xfrm>
          <a:prstGeom prst="roundRect">
            <a:avLst>
              <a:gd name="adj" fmla="val 10345"/>
            </a:avLst>
          </a:prstGeom>
          <a:solidFill>
            <a:srgbClr val="111827"/>
          </a:solidFill>
          <a:ln w="9525">
            <a:solidFill>
              <a:srgbClr val="B9C4D8"/>
            </a:solidFill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619414" y="1619250"/>
            <a:ext cx="1906423" cy="4171950"/>
          </a:xfrm>
          <a:prstGeom prst="roundRect">
            <a:avLst>
              <a:gd name="adj" fmla="val 9091"/>
            </a:avLst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69AA8B84-943F-4798-A469-191295BC25C6}"/>
              </a:ext>
            </a:extLst>
          </p:cNvPr>
          <p:cNvSpPr>
            <a:spLocks noGrp="1"/>
          </p:cNvSpPr>
          <p:nvPr/>
        </p:nvSpPr>
        <p:spPr>
          <a:xfrm>
            <a:off x="8439150" y="5962650"/>
            <a:ext cx="2266950" cy="26670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3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HarmonyOS APP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746F2C1-0B59-4CF8-9EA3-5549D5C0FEBA}"/>
              </a:ext>
            </a:extLst>
          </p:cNvPr>
          <p:cNvSpPr>
            <a:spLocks noGrp="1"/>
          </p:cNvSpPr>
          <p:nvPr/>
        </p:nvSpPr>
        <p:spPr>
          <a:xfrm>
            <a:off x="3771900" y="2771775"/>
            <a:ext cx="1276350" cy="19050"/>
          </a:xfrm>
          <a:prstGeom prst="rect">
            <a:avLst/>
          </a:prstGeom>
          <a:solidFill>
            <a:srgbClr val="3F7BD8"/>
          </a:solidFill>
          <a:ln w="0">
            <a:noFill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DCC978E-5605-478D-8E99-149FEF5D808A}"/>
              </a:ext>
            </a:extLst>
          </p:cNvPr>
          <p:cNvSpPr>
            <a:spLocks noGrp="1"/>
          </p:cNvSpPr>
          <p:nvPr/>
        </p:nvSpPr>
        <p:spPr>
          <a:xfrm>
            <a:off x="7143750" y="2771775"/>
            <a:ext cx="1381125" cy="19050"/>
          </a:xfrm>
          <a:prstGeom prst="rect">
            <a:avLst/>
          </a:prstGeom>
          <a:solidFill>
            <a:srgbClr val="3F7BD8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1CA4931-74E0-4F80-825D-4800D64C2FDA}"/>
              </a:ext>
            </a:extLst>
          </p:cNvPr>
          <p:cNvSpPr>
            <a:spLocks noGrp="1"/>
          </p:cNvSpPr>
          <p:nvPr/>
        </p:nvSpPr>
        <p:spPr>
          <a:xfrm>
            <a:off x="3771900" y="3324225"/>
            <a:ext cx="1276350" cy="19050"/>
          </a:xfrm>
          <a:prstGeom prst="rect">
            <a:avLst/>
          </a:prstGeom>
          <a:solidFill>
            <a:srgbClr val="19A658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2F9B1F9-0B8D-4F4B-9469-F26BF2BB2BB1}"/>
              </a:ext>
            </a:extLst>
          </p:cNvPr>
          <p:cNvSpPr>
            <a:spLocks noGrp="1"/>
          </p:cNvSpPr>
          <p:nvPr/>
        </p:nvSpPr>
        <p:spPr>
          <a:xfrm>
            <a:off x="7143750" y="3324225"/>
            <a:ext cx="1381125" cy="19050"/>
          </a:xfrm>
          <a:prstGeom prst="rect">
            <a:avLst/>
          </a:prstGeom>
          <a:solidFill>
            <a:srgbClr val="19A658"/>
          </a:solidFill>
          <a:ln w="0">
            <a:noFill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5C8555E-E5A1-4963-A02D-46498B26EDCC}"/>
              </a:ext>
            </a:extLst>
          </p:cNvPr>
          <p:cNvSpPr>
            <a:spLocks noGrp="1"/>
          </p:cNvSpPr>
          <p:nvPr/>
        </p:nvSpPr>
        <p:spPr>
          <a:xfrm>
            <a:off x="3886200" y="2457450"/>
            <a:ext cx="1428750" cy="266700"/>
          </a:xfrm>
          <a:prstGeom prst="roundRect">
            <a:avLst>
              <a:gd name="adj" fmla="val 25000"/>
            </a:avLst>
          </a:prstGeom>
          <a:solidFill>
            <a:srgbClr val="3F7BD8"/>
          </a:solidFill>
          <a:ln w="0">
            <a:noFill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41D0C26-2811-4DAC-A314-C68F09942119}"/>
              </a:ext>
            </a:extLst>
          </p:cNvPr>
          <p:cNvSpPr>
            <a:spLocks noGrp="1"/>
          </p:cNvSpPr>
          <p:nvPr/>
        </p:nvSpPr>
        <p:spPr>
          <a:xfrm>
            <a:off x="3886200" y="2476500"/>
            <a:ext cx="1428750" cy="228600"/>
          </a:xfrm>
          <a:prstGeom prst="rect">
            <a:avLst/>
          </a:prstGeom>
          <a:noFill/>
          <a:ln w="0">
            <a:noFill/>
          </a:ln>
        </p:spPr>
        <p:txBody>
          <a:bodyPr lIns="76200" tIns="0" rIns="76200" bIns="0" anchor="ctr"/>
          <a:lstStyle/>
          <a:p>
            <a:pPr algn="ctr">
              <a:lnSpc>
                <a:spcPct val="118000"/>
              </a:lnSpc>
              <a:buNone/>
              <a:defRPr sz="8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发布 game/state、score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1D79032-B087-43FD-A0DB-0E07D8157277}"/>
              </a:ext>
            </a:extLst>
          </p:cNvPr>
          <p:cNvSpPr>
            <a:spLocks noGrp="1"/>
          </p:cNvSpPr>
          <p:nvPr/>
        </p:nvSpPr>
        <p:spPr>
          <a:xfrm>
            <a:off x="3905250" y="3448050"/>
            <a:ext cx="1200150" cy="266700"/>
          </a:xfrm>
          <a:prstGeom prst="roundRect">
            <a:avLst>
              <a:gd name="adj" fmla="val 25000"/>
            </a:avLst>
          </a:prstGeom>
          <a:solidFill>
            <a:srgbClr val="19A658"/>
          </a:solidFill>
          <a:ln w="0">
            <a:noFill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1CFDE6F-8C75-4D1B-AD04-5BBFDEFA1761}"/>
              </a:ext>
            </a:extLst>
          </p:cNvPr>
          <p:cNvSpPr>
            <a:spLocks noGrp="1"/>
          </p:cNvSpPr>
          <p:nvPr/>
        </p:nvSpPr>
        <p:spPr>
          <a:xfrm>
            <a:off x="3905250" y="3467100"/>
            <a:ext cx="1200150" cy="228600"/>
          </a:xfrm>
          <a:prstGeom prst="rect">
            <a:avLst/>
          </a:prstGeom>
          <a:noFill/>
          <a:ln w="0">
            <a:noFill/>
          </a:ln>
        </p:spPr>
        <p:txBody>
          <a:bodyPr lIns="76200" tIns="0" rIns="76200" bIns="0" anchor="ctr"/>
          <a:lstStyle/>
          <a:p>
            <a:pPr algn="ctr">
              <a:lnSpc>
                <a:spcPct val="118000"/>
              </a:lnSpc>
              <a:buNone/>
              <a:defRPr sz="8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订阅 game/cmd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C28F8E2-0BB2-4C13-9E22-A61CE4641FA1}"/>
              </a:ext>
            </a:extLst>
          </p:cNvPr>
          <p:cNvSpPr>
            <a:spLocks noGrp="1"/>
          </p:cNvSpPr>
          <p:nvPr/>
        </p:nvSpPr>
        <p:spPr>
          <a:xfrm>
            <a:off x="7162800" y="2457450"/>
            <a:ext cx="1219200" cy="266700"/>
          </a:xfrm>
          <a:prstGeom prst="roundRect">
            <a:avLst>
              <a:gd name="adj" fmla="val 25000"/>
            </a:avLst>
          </a:prstGeom>
          <a:solidFill>
            <a:srgbClr val="3F7BD8"/>
          </a:solidFill>
          <a:ln w="0">
            <a:noFill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63E7AA2-920F-4AAF-A76A-03C5CB42EB07}"/>
              </a:ext>
            </a:extLst>
          </p:cNvPr>
          <p:cNvSpPr>
            <a:spLocks noGrp="1"/>
          </p:cNvSpPr>
          <p:nvPr/>
        </p:nvSpPr>
        <p:spPr>
          <a:xfrm>
            <a:off x="7162800" y="2476500"/>
            <a:ext cx="1219200" cy="228600"/>
          </a:xfrm>
          <a:prstGeom prst="rect">
            <a:avLst/>
          </a:prstGeom>
          <a:noFill/>
          <a:ln w="0">
            <a:noFill/>
          </a:ln>
        </p:spPr>
        <p:txBody>
          <a:bodyPr lIns="76200" tIns="0" rIns="76200" bIns="0" anchor="ctr"/>
          <a:lstStyle/>
          <a:p>
            <a:pPr algn="ctr">
              <a:lnSpc>
                <a:spcPct val="118000"/>
              </a:lnSpc>
              <a:buNone/>
              <a:defRPr sz="8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发布 game/cmd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AF618CE-4A2C-4279-903A-54F495136555}"/>
              </a:ext>
            </a:extLst>
          </p:cNvPr>
          <p:cNvSpPr>
            <a:spLocks noGrp="1"/>
          </p:cNvSpPr>
          <p:nvPr/>
        </p:nvSpPr>
        <p:spPr>
          <a:xfrm>
            <a:off x="7162800" y="3448050"/>
            <a:ext cx="1257300" cy="266700"/>
          </a:xfrm>
          <a:prstGeom prst="roundRect">
            <a:avLst>
              <a:gd name="adj" fmla="val 25000"/>
            </a:avLst>
          </a:prstGeom>
          <a:solidFill>
            <a:srgbClr val="19A658"/>
          </a:solidFill>
          <a:ln w="0">
            <a:noFill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74C4180-F2DC-4AC9-B053-AE40D9BE4805}"/>
              </a:ext>
            </a:extLst>
          </p:cNvPr>
          <p:cNvSpPr>
            <a:spLocks noGrp="1"/>
          </p:cNvSpPr>
          <p:nvPr/>
        </p:nvSpPr>
        <p:spPr>
          <a:xfrm>
            <a:off x="7162800" y="3467100"/>
            <a:ext cx="1257300" cy="228600"/>
          </a:xfrm>
          <a:prstGeom prst="rect">
            <a:avLst/>
          </a:prstGeom>
          <a:noFill/>
          <a:ln w="0">
            <a:noFill/>
          </a:ln>
        </p:spPr>
        <p:txBody>
          <a:bodyPr lIns="76200" tIns="0" rIns="76200" bIns="0" anchor="ctr"/>
          <a:lstStyle/>
          <a:p>
            <a:pPr algn="ctr">
              <a:lnSpc>
                <a:spcPct val="118000"/>
              </a:lnSpc>
              <a:buNone/>
              <a:defRPr sz="8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订阅 game/state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B52DD203-C9F6-41AD-BC65-4B1B0CEBD41F}"/>
              </a:ext>
            </a:extLst>
          </p:cNvPr>
          <p:cNvSpPr>
            <a:spLocks noGrp="1"/>
          </p:cNvSpPr>
          <p:nvPr/>
        </p:nvSpPr>
        <p:spPr>
          <a:xfrm>
            <a:off x="876300" y="4667250"/>
            <a:ext cx="95250" cy="95250"/>
          </a:xfrm>
          <a:prstGeom prst="ellipse">
            <a:avLst/>
          </a:prstGeom>
          <a:solidFill>
            <a:srgbClr val="F05A16"/>
          </a:solidFill>
          <a:ln w="0">
            <a:noFill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8E81EEB-620F-42FB-8DB0-E70CAA248EA2}"/>
              </a:ext>
            </a:extLst>
          </p:cNvPr>
          <p:cNvSpPr>
            <a:spLocks noGrp="1"/>
          </p:cNvSpPr>
          <p:nvPr/>
        </p:nvSpPr>
        <p:spPr>
          <a:xfrm>
            <a:off x="1104900" y="4591050"/>
            <a:ext cx="5772150" cy="361950"/>
          </a:xfrm>
          <a:prstGeom prst="rect">
            <a:avLst/>
          </a:prstGeom>
          <a:noFill/>
          <a:ln w="0">
            <a:noFill/>
          </a:ln>
        </p:spPr>
        <p:txBody>
          <a:bodyPr lIns="0" tIns="19050" rIns="0" bIns="19050" anchor="t"/>
          <a:lstStyle/>
          <a:p>
            <a:pPr algn="l">
              <a:lnSpc>
                <a:spcPct val="122000"/>
              </a:lnSpc>
              <a:buNone/>
              <a:defRPr sz="1200" b="0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控制指令：选择游戏、复活、矩阵灯像素/图案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7B29CD28-3622-47C2-972C-BF5B8884DD52}"/>
              </a:ext>
            </a:extLst>
          </p:cNvPr>
          <p:cNvSpPr>
            <a:spLocks noGrp="1"/>
          </p:cNvSpPr>
          <p:nvPr/>
        </p:nvSpPr>
        <p:spPr>
          <a:xfrm>
            <a:off x="876300" y="5067300"/>
            <a:ext cx="95250" cy="95250"/>
          </a:xfrm>
          <a:prstGeom prst="ellipse">
            <a:avLst/>
          </a:prstGeom>
          <a:solidFill>
            <a:srgbClr val="F05A16"/>
          </a:solidFill>
          <a:ln w="0">
            <a:noFill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3EEB2BA-1913-4C5E-9773-24A613EAA68C}"/>
              </a:ext>
            </a:extLst>
          </p:cNvPr>
          <p:cNvSpPr>
            <a:spLocks noGrp="1"/>
          </p:cNvSpPr>
          <p:nvPr/>
        </p:nvSpPr>
        <p:spPr>
          <a:xfrm>
            <a:off x="1104900" y="4991100"/>
            <a:ext cx="5772150" cy="361950"/>
          </a:xfrm>
          <a:prstGeom prst="rect">
            <a:avLst/>
          </a:prstGeom>
          <a:noFill/>
          <a:ln w="0">
            <a:noFill/>
          </a:ln>
        </p:spPr>
        <p:txBody>
          <a:bodyPr lIns="0" tIns="19050" rIns="0" bIns="19050" anchor="t"/>
          <a:lstStyle/>
          <a:p>
            <a:pPr algn="l">
              <a:lnSpc>
                <a:spcPct val="122000"/>
              </a:lnSpc>
              <a:buNone/>
              <a:defRPr sz="1200" b="0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状态回传：游戏结束、分数、设备连接状态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F10AD1C3-58C1-4D08-A760-87F2EE346B80}"/>
              </a:ext>
            </a:extLst>
          </p:cNvPr>
          <p:cNvSpPr>
            <a:spLocks noGrp="1"/>
          </p:cNvSpPr>
          <p:nvPr/>
        </p:nvSpPr>
        <p:spPr>
          <a:xfrm>
            <a:off x="876300" y="5467350"/>
            <a:ext cx="95250" cy="95250"/>
          </a:xfrm>
          <a:prstGeom prst="ellipse">
            <a:avLst/>
          </a:prstGeom>
          <a:solidFill>
            <a:srgbClr val="F05A16"/>
          </a:solidFill>
          <a:ln w="0">
            <a:noFill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BE86F14-5FFF-47D2-930C-C0BF782EF753}"/>
              </a:ext>
            </a:extLst>
          </p:cNvPr>
          <p:cNvSpPr>
            <a:spLocks noGrp="1"/>
          </p:cNvSpPr>
          <p:nvPr/>
        </p:nvSpPr>
        <p:spPr>
          <a:xfrm>
            <a:off x="1104900" y="5391150"/>
            <a:ext cx="5772150" cy="361950"/>
          </a:xfrm>
          <a:prstGeom prst="rect">
            <a:avLst/>
          </a:prstGeom>
          <a:noFill/>
          <a:ln w="0">
            <a:noFill/>
          </a:ln>
        </p:spPr>
        <p:txBody>
          <a:bodyPr lIns="0" tIns="19050" rIns="0" bIns="19050" anchor="t"/>
          <a:lstStyle/>
          <a:p>
            <a:pPr algn="l">
              <a:lnSpc>
                <a:spcPct val="122000"/>
              </a:lnSpc>
              <a:buNone/>
              <a:defRPr sz="1200" b="0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通信模式：发布/订阅，解耦 APP 与开发板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F551B9F-38BE-4B53-AA48-0DF7BED68FE5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9982200" cy="9525"/>
          </a:xfrm>
          <a:prstGeom prst="rect">
            <a:avLst/>
          </a:prstGeom>
          <a:solidFill>
            <a:srgbClr val="D9E2F3"/>
          </a:solidFill>
          <a:ln w="0">
            <a:noFill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A1C1F38-732D-4268-AC61-BF611E72CCB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750" b="0" i="0">
                <a:solidFill>
                  <a:srgbClr val="7890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890AD"/>
                </a:solidFill>
                <a:latin typeface="Microsoft YaHei"/>
                <a:ea typeface="Microsoft YaHei"/>
                <a:cs typeface="Microsoft YaHei"/>
              </a:rPr>
              <a:t>ESP32智能游戏竞技台 | OpenHarmony + MQTT + 外设联动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92D2188-A299-462C-B000-72D7E768EF44}"/>
              </a:ext>
            </a:extLst>
          </p:cNvPr>
          <p:cNvSpPr>
            <a:spLocks noGrp="1"/>
          </p:cNvSpPr>
          <p:nvPr/>
        </p:nvSpPr>
        <p:spPr>
          <a:xfrm>
            <a:off x="10820400" y="6343650"/>
            <a:ext cx="666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r">
              <a:lnSpc>
                <a:spcPct val="118000"/>
              </a:lnSpc>
              <a:buNone/>
              <a:defRPr sz="13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E557AC15-090D-B775-692B-954E199E41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" t="1044" r="-891" b="7441"/>
          <a:stretch>
            <a:fillRect/>
          </a:stretch>
        </p:blipFill>
        <p:spPr>
          <a:xfrm rot="16200000">
            <a:off x="1500021" y="1564413"/>
            <a:ext cx="1625620" cy="264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998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kicker-label">
            <a:extLst>
              <a:ext uri="{FF2B5EF4-FFF2-40B4-BE49-F238E27FC236}">
                <a16:creationId xmlns:a16="http://schemas.microsoft.com/office/drawing/2014/main" id="{9739619F-F126-4D09-8E10-5EAA22CCC20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19050" rIns="0" bIns="19050" anchor="ctr"/>
          <a:lstStyle/>
          <a:p>
            <a:pPr algn="l">
              <a:lnSpc>
                <a:spcPct val="118000"/>
              </a:lnSpc>
              <a:buNone/>
              <a:defRPr sz="10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HARDWARE DESIGN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3967A38-B591-4A36-AE53-AB24C4073968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419100" cy="38100"/>
          </a:xfrm>
          <a:prstGeom prst="rect">
            <a:avLst/>
          </a:prstGeom>
          <a:solidFill>
            <a:srgbClr val="3F7BD8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B78C09-740B-4BBD-B138-641C37A5A9A1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2870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四个外设模块把“输入、显示、音效、画面”补齐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F008D1-80DB-4539-B630-80D726982453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9144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20000"/>
              </a:lnSpc>
              <a:buNone/>
              <a:defRPr sz="12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ESP32 作为核心控制器，分别通过 GPIO、ADC 和双线串行接口完成外设驱动。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40EE4CF-19D3-40A3-9EAE-C354B0E349A5}"/>
              </a:ext>
            </a:extLst>
          </p:cNvPr>
          <p:cNvSpPr>
            <a:spLocks noGrp="1"/>
          </p:cNvSpPr>
          <p:nvPr/>
        </p:nvSpPr>
        <p:spPr>
          <a:xfrm>
            <a:off x="742950" y="1885950"/>
            <a:ext cx="2362200" cy="360045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FE7F4"/>
            </a:solidFill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t="33101" b="33101"/>
          <a:stretch>
            <a:fillRect/>
          </a:stretch>
        </p:blipFill>
        <p:spPr>
          <a:xfrm>
            <a:off x="876300" y="2019300"/>
            <a:ext cx="2095500" cy="1657350"/>
          </a:xfrm>
          <a:prstGeom prst="roundRect">
            <a:avLst>
              <a:gd name="adj" fmla="val 3448"/>
            </a:avLst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00F70B2-BEA2-4647-8328-1EE5DA5E984E}"/>
              </a:ext>
            </a:extLst>
          </p:cNvPr>
          <p:cNvSpPr>
            <a:spLocks noGrp="1"/>
          </p:cNvSpPr>
          <p:nvPr/>
        </p:nvSpPr>
        <p:spPr>
          <a:xfrm>
            <a:off x="914400" y="3810000"/>
            <a:ext cx="20193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13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蜂鸣器模块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03F5EBC-09AC-47A4-9AF6-BC7A2F4A22F8}"/>
              </a:ext>
            </a:extLst>
          </p:cNvPr>
          <p:cNvSpPr>
            <a:spLocks noGrp="1"/>
          </p:cNvSpPr>
          <p:nvPr/>
        </p:nvSpPr>
        <p:spPr>
          <a:xfrm>
            <a:off x="914400" y="4133850"/>
            <a:ext cx="876300" cy="247650"/>
          </a:xfrm>
          <a:prstGeom prst="roundRect">
            <a:avLst>
              <a:gd name="adj" fmla="val 30769"/>
            </a:avLst>
          </a:prstGeom>
          <a:solidFill>
            <a:srgbClr val="EAF2F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A3767A9-0E46-4B2B-886A-6F37348C2086}"/>
              </a:ext>
            </a:extLst>
          </p:cNvPr>
          <p:cNvSpPr>
            <a:spLocks noGrp="1"/>
          </p:cNvSpPr>
          <p:nvPr/>
        </p:nvSpPr>
        <p:spPr>
          <a:xfrm>
            <a:off x="914400" y="4152900"/>
            <a:ext cx="876300" cy="209550"/>
          </a:xfrm>
          <a:prstGeom prst="rect">
            <a:avLst/>
          </a:prstGeom>
          <a:noFill/>
          <a:ln w="0">
            <a:noFill/>
          </a:ln>
        </p:spPr>
        <p:txBody>
          <a:bodyPr lIns="76200" tIns="0" rIns="76200" bIns="0" anchor="ctr"/>
          <a:lstStyle/>
          <a:p>
            <a:pPr algn="ctr">
              <a:lnSpc>
                <a:spcPct val="118000"/>
              </a:lnSpc>
              <a:buNone/>
              <a:defRPr sz="90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GPIO / PWM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82127ED-B7E9-4A59-B097-1E451BC28118}"/>
              </a:ext>
            </a:extLst>
          </p:cNvPr>
          <p:cNvSpPr>
            <a:spLocks noGrp="1"/>
          </p:cNvSpPr>
          <p:nvPr/>
        </p:nvSpPr>
        <p:spPr>
          <a:xfrm>
            <a:off x="914400" y="4476750"/>
            <a:ext cx="201930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20000"/>
              </a:lnSpc>
              <a:buNone/>
              <a:defRPr sz="975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用于得分、碰撞、游戏结束等音效反馈，增强交互感。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AECD1E5-78A4-4F86-B8B0-861240215E8D}"/>
              </a:ext>
            </a:extLst>
          </p:cNvPr>
          <p:cNvSpPr>
            <a:spLocks noGrp="1"/>
          </p:cNvSpPr>
          <p:nvPr/>
        </p:nvSpPr>
        <p:spPr>
          <a:xfrm>
            <a:off x="3486150" y="1885950"/>
            <a:ext cx="2362200" cy="360045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FE7F4"/>
            </a:solidFill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rcRect t="33101" b="33101"/>
          <a:stretch>
            <a:fillRect/>
          </a:stretch>
        </p:blipFill>
        <p:spPr>
          <a:xfrm>
            <a:off x="3619500" y="2019300"/>
            <a:ext cx="2095500" cy="1657350"/>
          </a:xfrm>
          <a:prstGeom prst="roundRect">
            <a:avLst>
              <a:gd name="adj" fmla="val 3448"/>
            </a:avLst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1C8312DC-5B1D-4ED4-B1E6-12FCF24CA7F1}"/>
              </a:ext>
            </a:extLst>
          </p:cNvPr>
          <p:cNvSpPr>
            <a:spLocks noGrp="1"/>
          </p:cNvSpPr>
          <p:nvPr/>
        </p:nvSpPr>
        <p:spPr>
          <a:xfrm>
            <a:off x="3657600" y="3810000"/>
            <a:ext cx="20193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13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AD 五路按键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5E88061-DA01-46FB-8CB7-045C6D5F5F79}"/>
              </a:ext>
            </a:extLst>
          </p:cNvPr>
          <p:cNvSpPr>
            <a:spLocks noGrp="1"/>
          </p:cNvSpPr>
          <p:nvPr/>
        </p:nvSpPr>
        <p:spPr>
          <a:xfrm>
            <a:off x="3657600" y="4133850"/>
            <a:ext cx="876300" cy="247650"/>
          </a:xfrm>
          <a:prstGeom prst="roundRect">
            <a:avLst>
              <a:gd name="adj" fmla="val 30769"/>
            </a:avLst>
          </a:prstGeom>
          <a:solidFill>
            <a:srgbClr val="EAF2FF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E719378-B998-472E-8DD6-50DE5AF068CB}"/>
              </a:ext>
            </a:extLst>
          </p:cNvPr>
          <p:cNvSpPr>
            <a:spLocks noGrp="1"/>
          </p:cNvSpPr>
          <p:nvPr/>
        </p:nvSpPr>
        <p:spPr>
          <a:xfrm>
            <a:off x="3657600" y="4152900"/>
            <a:ext cx="876300" cy="209550"/>
          </a:xfrm>
          <a:prstGeom prst="rect">
            <a:avLst/>
          </a:prstGeom>
          <a:noFill/>
          <a:ln w="0">
            <a:noFill/>
          </a:ln>
        </p:spPr>
        <p:txBody>
          <a:bodyPr lIns="76200" tIns="0" rIns="76200" bIns="0" anchor="ctr"/>
          <a:lstStyle/>
          <a:p>
            <a:pPr algn="ctr">
              <a:lnSpc>
                <a:spcPct val="118000"/>
              </a:lnSpc>
              <a:buNone/>
              <a:defRPr sz="90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ADC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0A98408-2AF3-4958-A58C-9909BCE0D23A}"/>
              </a:ext>
            </a:extLst>
          </p:cNvPr>
          <p:cNvSpPr>
            <a:spLocks noGrp="1"/>
          </p:cNvSpPr>
          <p:nvPr/>
        </p:nvSpPr>
        <p:spPr>
          <a:xfrm>
            <a:off x="3657600" y="4476750"/>
            <a:ext cx="201930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20000"/>
              </a:lnSpc>
              <a:buNone/>
              <a:defRPr sz="975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五个按键共用一路模拟输入，通过不同电压区间识别方向与确认。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714B6B6-2470-4389-ADF1-8007FC46A416}"/>
              </a:ext>
            </a:extLst>
          </p:cNvPr>
          <p:cNvSpPr>
            <a:spLocks noGrp="1"/>
          </p:cNvSpPr>
          <p:nvPr/>
        </p:nvSpPr>
        <p:spPr>
          <a:xfrm>
            <a:off x="6229350" y="1885950"/>
            <a:ext cx="2362200" cy="360045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FE7F4"/>
            </a:solidFill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rcRect l="3290" r="3290"/>
          <a:stretch>
            <a:fillRect/>
          </a:stretch>
        </p:blipFill>
        <p:spPr>
          <a:xfrm>
            <a:off x="6362700" y="2019300"/>
            <a:ext cx="2095500" cy="1657350"/>
          </a:xfrm>
          <a:prstGeom prst="roundRect">
            <a:avLst>
              <a:gd name="adj" fmla="val 3448"/>
            </a:avLst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733D9C71-94B6-4B1D-BC15-62EA8092B061}"/>
              </a:ext>
            </a:extLst>
          </p:cNvPr>
          <p:cNvSpPr>
            <a:spLocks noGrp="1"/>
          </p:cNvSpPr>
          <p:nvPr/>
        </p:nvSpPr>
        <p:spPr>
          <a:xfrm>
            <a:off x="6400800" y="3810000"/>
            <a:ext cx="20193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13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四位数码管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9F5F63E-A756-4D8F-84C5-E53AA5908971}"/>
              </a:ext>
            </a:extLst>
          </p:cNvPr>
          <p:cNvSpPr>
            <a:spLocks noGrp="1"/>
          </p:cNvSpPr>
          <p:nvPr/>
        </p:nvSpPr>
        <p:spPr>
          <a:xfrm>
            <a:off x="6400800" y="4133850"/>
            <a:ext cx="876300" cy="247650"/>
          </a:xfrm>
          <a:prstGeom prst="roundRect">
            <a:avLst>
              <a:gd name="adj" fmla="val 30769"/>
            </a:avLst>
          </a:prstGeom>
          <a:solidFill>
            <a:srgbClr val="EAF2FF"/>
          </a:solidFill>
          <a:ln w="0">
            <a:noFill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96CC04D-FFFC-40D1-B3F5-E1D901853A9C}"/>
              </a:ext>
            </a:extLst>
          </p:cNvPr>
          <p:cNvSpPr>
            <a:spLocks noGrp="1"/>
          </p:cNvSpPr>
          <p:nvPr/>
        </p:nvSpPr>
        <p:spPr>
          <a:xfrm>
            <a:off x="6400800" y="4152900"/>
            <a:ext cx="876300" cy="209550"/>
          </a:xfrm>
          <a:prstGeom prst="rect">
            <a:avLst/>
          </a:prstGeom>
          <a:noFill/>
          <a:ln w="0">
            <a:noFill/>
          </a:ln>
        </p:spPr>
        <p:txBody>
          <a:bodyPr lIns="76200" tIns="0" rIns="76200" bIns="0" anchor="ctr"/>
          <a:lstStyle/>
          <a:p>
            <a:pPr algn="ctr">
              <a:lnSpc>
                <a:spcPct val="118000"/>
              </a:lnSpc>
              <a:buNone/>
              <a:defRPr sz="90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DIO / CLK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0E38187-B7E1-4A66-939F-FCA5E00F897E}"/>
              </a:ext>
            </a:extLst>
          </p:cNvPr>
          <p:cNvSpPr>
            <a:spLocks noGrp="1"/>
          </p:cNvSpPr>
          <p:nvPr/>
        </p:nvSpPr>
        <p:spPr>
          <a:xfrm>
            <a:off x="6400800" y="4476750"/>
            <a:ext cx="201930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20000"/>
              </a:lnSpc>
              <a:buNone/>
              <a:defRPr sz="975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显示实时分数或状态数值，让玩家脱离手机也能看到游戏结果。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1DC889D7-9347-4B87-8B0F-02B2883BA94E}"/>
              </a:ext>
            </a:extLst>
          </p:cNvPr>
          <p:cNvSpPr>
            <a:spLocks noGrp="1"/>
          </p:cNvSpPr>
          <p:nvPr/>
        </p:nvSpPr>
        <p:spPr>
          <a:xfrm>
            <a:off x="8972550" y="1885950"/>
            <a:ext cx="2362200" cy="360045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FE7F4"/>
            </a:solidFill>
          </a:ln>
        </p:spPr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6"/>
          <a:srcRect l="2276" r="2276"/>
          <a:stretch>
            <a:fillRect/>
          </a:stretch>
        </p:blipFill>
        <p:spPr>
          <a:xfrm>
            <a:off x="9105900" y="2019300"/>
            <a:ext cx="2095500" cy="1657350"/>
          </a:xfrm>
          <a:prstGeom prst="roundRect">
            <a:avLst>
              <a:gd name="adj" fmla="val 3448"/>
            </a:avLst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D01E6F41-DD30-4FC3-A7E9-DA00208AB823}"/>
              </a:ext>
            </a:extLst>
          </p:cNvPr>
          <p:cNvSpPr>
            <a:spLocks noGrp="1"/>
          </p:cNvSpPr>
          <p:nvPr/>
        </p:nvSpPr>
        <p:spPr>
          <a:xfrm>
            <a:off x="9144000" y="3810000"/>
            <a:ext cx="20193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13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8x8 矩阵灯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68C0527E-19CD-457D-A4FD-BFAB566AAE13}"/>
              </a:ext>
            </a:extLst>
          </p:cNvPr>
          <p:cNvSpPr>
            <a:spLocks noGrp="1"/>
          </p:cNvSpPr>
          <p:nvPr/>
        </p:nvSpPr>
        <p:spPr>
          <a:xfrm>
            <a:off x="9144000" y="4133850"/>
            <a:ext cx="876300" cy="247650"/>
          </a:xfrm>
          <a:prstGeom prst="roundRect">
            <a:avLst>
              <a:gd name="adj" fmla="val 30769"/>
            </a:avLst>
          </a:prstGeom>
          <a:solidFill>
            <a:srgbClr val="EAF2FF"/>
          </a:solidFill>
          <a:ln w="0">
            <a:noFill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D690184-2B8C-4766-A1C0-84CC7736BF2B}"/>
              </a:ext>
            </a:extLst>
          </p:cNvPr>
          <p:cNvSpPr>
            <a:spLocks noGrp="1"/>
          </p:cNvSpPr>
          <p:nvPr/>
        </p:nvSpPr>
        <p:spPr>
          <a:xfrm>
            <a:off x="9144000" y="4152900"/>
            <a:ext cx="876300" cy="209550"/>
          </a:xfrm>
          <a:prstGeom prst="rect">
            <a:avLst/>
          </a:prstGeom>
          <a:noFill/>
          <a:ln w="0">
            <a:noFill/>
          </a:ln>
        </p:spPr>
        <p:txBody>
          <a:bodyPr lIns="76200" tIns="0" rIns="76200" bIns="0" anchor="ctr"/>
          <a:lstStyle/>
          <a:p>
            <a:pPr algn="ctr">
              <a:lnSpc>
                <a:spcPct val="118000"/>
              </a:lnSpc>
              <a:buNone/>
              <a:defRPr sz="90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I2C / SCL/SDA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4EE618D-F5BD-4872-8698-6927E0EE325F}"/>
              </a:ext>
            </a:extLst>
          </p:cNvPr>
          <p:cNvSpPr>
            <a:spLocks noGrp="1"/>
          </p:cNvSpPr>
          <p:nvPr/>
        </p:nvSpPr>
        <p:spPr>
          <a:xfrm>
            <a:off x="9144000" y="4476750"/>
            <a:ext cx="201930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20000"/>
              </a:lnSpc>
              <a:buNone/>
              <a:defRPr sz="975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展示游戏画面和 APP 下发的图案，是本项目最直观的输出界面。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6AF0426-9789-40B3-B5F0-23EEA61C5A15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9982200" cy="9525"/>
          </a:xfrm>
          <a:prstGeom prst="rect">
            <a:avLst/>
          </a:prstGeom>
          <a:solidFill>
            <a:srgbClr val="D9E2F3"/>
          </a:solidFill>
          <a:ln w="0">
            <a:noFill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325F9FD-2D96-4FF8-A3D6-05787F3EF8B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750" b="0" i="0">
                <a:solidFill>
                  <a:srgbClr val="7890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890AD"/>
                </a:solidFill>
                <a:latin typeface="Microsoft YaHei"/>
                <a:ea typeface="Microsoft YaHei"/>
                <a:cs typeface="Microsoft YaHei"/>
              </a:rPr>
              <a:t>ESP32智能游戏竞技台 | OpenHarmony + MQTT + 外设联动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80B832B-F676-4294-B623-1DB924C2DC8A}"/>
              </a:ext>
            </a:extLst>
          </p:cNvPr>
          <p:cNvSpPr>
            <a:spLocks noGrp="1"/>
          </p:cNvSpPr>
          <p:nvPr/>
        </p:nvSpPr>
        <p:spPr>
          <a:xfrm>
            <a:off x="10820400" y="6343650"/>
            <a:ext cx="666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r">
              <a:lnSpc>
                <a:spcPct val="118000"/>
              </a:lnSpc>
              <a:buNone/>
              <a:defRPr sz="13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46534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kicker-label">
            <a:extLst>
              <a:ext uri="{FF2B5EF4-FFF2-40B4-BE49-F238E27FC236}">
                <a16:creationId xmlns:a16="http://schemas.microsoft.com/office/drawing/2014/main" id="{EA1CC7F2-4875-4892-B4D5-00E3B9E905ED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19050" rIns="0" bIns="19050" anchor="ctr"/>
          <a:lstStyle/>
          <a:p>
            <a:pPr algn="l">
              <a:lnSpc>
                <a:spcPct val="118000"/>
              </a:lnSpc>
              <a:buNone/>
              <a:defRPr sz="10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PIN CONNECTION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DCF94A-7DD8-4D40-8C53-6ACA30113CB5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419100" cy="38100"/>
          </a:xfrm>
          <a:prstGeom prst="rect">
            <a:avLst/>
          </a:prstGeom>
          <a:solidFill>
            <a:srgbClr val="3F7BD8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B1EE515-DEA6-4671-A925-8CC7E6C12A85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2870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外设连线按接口类型分组，便于调试和汇报说明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22A73ED-2D4F-4633-AF44-510B42E86F20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9144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20000"/>
              </a:lnSpc>
              <a:buNone/>
              <a:defRPr sz="12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实际项目中应先统一供电与 GND，再按信号线连接各模块。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B257AD0-E510-40BC-8307-C1EF1F80DF0B}"/>
              </a:ext>
            </a:extLst>
          </p:cNvPr>
          <p:cNvSpPr>
            <a:spLocks noGrp="1"/>
          </p:cNvSpPr>
          <p:nvPr/>
        </p:nvSpPr>
        <p:spPr>
          <a:xfrm>
            <a:off x="914400" y="2076450"/>
            <a:ext cx="1905000" cy="457200"/>
          </a:xfrm>
          <a:prstGeom prst="roundRect">
            <a:avLst>
              <a:gd name="adj" fmla="val 16667"/>
            </a:avLst>
          </a:prstGeom>
          <a:solidFill>
            <a:srgbClr val="3F7BD8"/>
          </a:solidFill>
          <a:ln w="9525">
            <a:solidFill>
              <a:srgbClr val="3F7BD8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D458C88-69A9-4A71-813C-AD3A1B3D5184}"/>
              </a:ext>
            </a:extLst>
          </p:cNvPr>
          <p:cNvSpPr>
            <a:spLocks noGrp="1"/>
          </p:cNvSpPr>
          <p:nvPr/>
        </p:nvSpPr>
        <p:spPr>
          <a:xfrm>
            <a:off x="1028700" y="2152650"/>
            <a:ext cx="167640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外设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D117485-5300-4E96-B820-D044D66755E4}"/>
              </a:ext>
            </a:extLst>
          </p:cNvPr>
          <p:cNvSpPr>
            <a:spLocks noGrp="1"/>
          </p:cNvSpPr>
          <p:nvPr/>
        </p:nvSpPr>
        <p:spPr>
          <a:xfrm>
            <a:off x="2819400" y="2076450"/>
            <a:ext cx="2095500" cy="457200"/>
          </a:xfrm>
          <a:prstGeom prst="rect">
            <a:avLst/>
          </a:prstGeom>
          <a:solidFill>
            <a:srgbClr val="3F7BD8"/>
          </a:solidFill>
          <a:ln w="9525">
            <a:solidFill>
              <a:srgbClr val="3F7BD8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763A4B2-AC20-4E1D-9EEE-B9834BB1D3AB}"/>
              </a:ext>
            </a:extLst>
          </p:cNvPr>
          <p:cNvSpPr>
            <a:spLocks noGrp="1"/>
          </p:cNvSpPr>
          <p:nvPr/>
        </p:nvSpPr>
        <p:spPr>
          <a:xfrm>
            <a:off x="2933700" y="2152650"/>
            <a:ext cx="186690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关键引脚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43B4348-6544-41E5-BD54-6A81D9897AC5}"/>
              </a:ext>
            </a:extLst>
          </p:cNvPr>
          <p:cNvSpPr>
            <a:spLocks noGrp="1"/>
          </p:cNvSpPr>
          <p:nvPr/>
        </p:nvSpPr>
        <p:spPr>
          <a:xfrm>
            <a:off x="4914900" y="2076450"/>
            <a:ext cx="2000250" cy="457200"/>
          </a:xfrm>
          <a:prstGeom prst="rect">
            <a:avLst/>
          </a:prstGeom>
          <a:solidFill>
            <a:srgbClr val="3F7BD8"/>
          </a:solidFill>
          <a:ln w="9525">
            <a:solidFill>
              <a:srgbClr val="3F7BD8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41E2A41-9745-494E-B921-5CF85F21C82C}"/>
              </a:ext>
            </a:extLst>
          </p:cNvPr>
          <p:cNvSpPr>
            <a:spLocks noGrp="1"/>
          </p:cNvSpPr>
          <p:nvPr/>
        </p:nvSpPr>
        <p:spPr>
          <a:xfrm>
            <a:off x="5029200" y="2152650"/>
            <a:ext cx="177165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接口方式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B553FC5-0508-4B69-BA4F-23BF2765BA35}"/>
              </a:ext>
            </a:extLst>
          </p:cNvPr>
          <p:cNvSpPr>
            <a:spLocks noGrp="1"/>
          </p:cNvSpPr>
          <p:nvPr/>
        </p:nvSpPr>
        <p:spPr>
          <a:xfrm>
            <a:off x="6915150" y="2076450"/>
            <a:ext cx="3429000" cy="457200"/>
          </a:xfrm>
          <a:prstGeom prst="rect">
            <a:avLst/>
          </a:prstGeom>
          <a:solidFill>
            <a:srgbClr val="3F7BD8"/>
          </a:solidFill>
          <a:ln w="9525">
            <a:solidFill>
              <a:srgbClr val="3F7BD8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652C6A5-DB5F-459B-A0E4-41172B42E902}"/>
              </a:ext>
            </a:extLst>
          </p:cNvPr>
          <p:cNvSpPr>
            <a:spLocks noGrp="1"/>
          </p:cNvSpPr>
          <p:nvPr/>
        </p:nvSpPr>
        <p:spPr>
          <a:xfrm>
            <a:off x="7029450" y="2152650"/>
            <a:ext cx="320040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0EBD453-C5E7-4D77-BDAC-503F50FE1DB1}"/>
              </a:ext>
            </a:extLst>
          </p:cNvPr>
          <p:cNvSpPr>
            <a:spLocks noGrp="1"/>
          </p:cNvSpPr>
          <p:nvPr/>
        </p:nvSpPr>
        <p:spPr>
          <a:xfrm>
            <a:off x="914400" y="2533650"/>
            <a:ext cx="1905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7F6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63D5EAB-004D-4BCD-9262-12343AFC7DCA}"/>
              </a:ext>
            </a:extLst>
          </p:cNvPr>
          <p:cNvSpPr>
            <a:spLocks noGrp="1"/>
          </p:cNvSpPr>
          <p:nvPr/>
        </p:nvSpPr>
        <p:spPr>
          <a:xfrm>
            <a:off x="1028700" y="2667000"/>
            <a:ext cx="167640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2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蜂鸣器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A7CCA24-6A2C-4DC6-81BE-FB249DFE28C1}"/>
              </a:ext>
            </a:extLst>
          </p:cNvPr>
          <p:cNvSpPr>
            <a:spLocks noGrp="1"/>
          </p:cNvSpPr>
          <p:nvPr/>
        </p:nvSpPr>
        <p:spPr>
          <a:xfrm>
            <a:off x="2819400" y="2533650"/>
            <a:ext cx="2095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7F6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ACB3655-C4D6-40EE-BE3A-B542B6179041}"/>
              </a:ext>
            </a:extLst>
          </p:cNvPr>
          <p:cNvSpPr>
            <a:spLocks noGrp="1"/>
          </p:cNvSpPr>
          <p:nvPr/>
        </p:nvSpPr>
        <p:spPr>
          <a:xfrm>
            <a:off x="2933700" y="2667000"/>
            <a:ext cx="186690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Signal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921F4D5-77E6-4D7E-B14A-20B0AFCEB2A8}"/>
              </a:ext>
            </a:extLst>
          </p:cNvPr>
          <p:cNvSpPr>
            <a:spLocks noGrp="1"/>
          </p:cNvSpPr>
          <p:nvPr/>
        </p:nvSpPr>
        <p:spPr>
          <a:xfrm>
            <a:off x="4914900" y="2533650"/>
            <a:ext cx="20002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7F6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A606352-01FE-4682-9EB5-A7A049565733}"/>
              </a:ext>
            </a:extLst>
          </p:cNvPr>
          <p:cNvSpPr>
            <a:spLocks noGrp="1"/>
          </p:cNvSpPr>
          <p:nvPr/>
        </p:nvSpPr>
        <p:spPr>
          <a:xfrm>
            <a:off x="5029200" y="2667000"/>
            <a:ext cx="177165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GPIO 输出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484B34C-B647-4DFE-A25F-F01DA39AC3CA}"/>
              </a:ext>
            </a:extLst>
          </p:cNvPr>
          <p:cNvSpPr>
            <a:spLocks noGrp="1"/>
          </p:cNvSpPr>
          <p:nvPr/>
        </p:nvSpPr>
        <p:spPr>
          <a:xfrm>
            <a:off x="6915150" y="2533650"/>
            <a:ext cx="3429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7F6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19190B7-AC05-4277-BA51-C2CECA940B8F}"/>
              </a:ext>
            </a:extLst>
          </p:cNvPr>
          <p:cNvSpPr>
            <a:spLocks noGrp="1"/>
          </p:cNvSpPr>
          <p:nvPr/>
        </p:nvSpPr>
        <p:spPr>
          <a:xfrm>
            <a:off x="7029450" y="2667000"/>
            <a:ext cx="320040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l">
              <a:lnSpc>
                <a:spcPct val="118000"/>
              </a:lnSpc>
              <a:buNone/>
              <a:def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游戏音效 / 提示音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4799098-0D80-45E7-9C58-A36F41841968}"/>
              </a:ext>
            </a:extLst>
          </p:cNvPr>
          <p:cNvSpPr>
            <a:spLocks noGrp="1"/>
          </p:cNvSpPr>
          <p:nvPr/>
        </p:nvSpPr>
        <p:spPr>
          <a:xfrm>
            <a:off x="914400" y="3067050"/>
            <a:ext cx="1905000" cy="533400"/>
          </a:xfrm>
          <a:prstGeom prst="rect">
            <a:avLst/>
          </a:prstGeom>
          <a:solidFill>
            <a:srgbClr val="F9FBFF"/>
          </a:solidFill>
          <a:ln w="9525">
            <a:solidFill>
              <a:srgbClr val="DDE7F6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CB0241B-8FFC-49E0-8321-990E9D44BB8C}"/>
              </a:ext>
            </a:extLst>
          </p:cNvPr>
          <p:cNvSpPr>
            <a:spLocks noGrp="1"/>
          </p:cNvSpPr>
          <p:nvPr/>
        </p:nvSpPr>
        <p:spPr>
          <a:xfrm>
            <a:off x="1028700" y="3200400"/>
            <a:ext cx="167640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2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AD 五路按键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9AECDA-F9A7-4E99-92DF-0CF1C328818D}"/>
              </a:ext>
            </a:extLst>
          </p:cNvPr>
          <p:cNvSpPr>
            <a:spLocks noGrp="1"/>
          </p:cNvSpPr>
          <p:nvPr/>
        </p:nvSpPr>
        <p:spPr>
          <a:xfrm>
            <a:off x="2819400" y="3067050"/>
            <a:ext cx="2095500" cy="533400"/>
          </a:xfrm>
          <a:prstGeom prst="rect">
            <a:avLst/>
          </a:prstGeom>
          <a:solidFill>
            <a:srgbClr val="F9FBFF"/>
          </a:solidFill>
          <a:ln w="9525">
            <a:solidFill>
              <a:srgbClr val="DDE7F6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5F24960-DA08-447F-9A7B-4542C404AB69}"/>
              </a:ext>
            </a:extLst>
          </p:cNvPr>
          <p:cNvSpPr>
            <a:spLocks noGrp="1"/>
          </p:cNvSpPr>
          <p:nvPr/>
        </p:nvSpPr>
        <p:spPr>
          <a:xfrm>
            <a:off x="2933700" y="3200400"/>
            <a:ext cx="186690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Signal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58660FB-369D-4DF0-8248-E0C9B7CC167A}"/>
              </a:ext>
            </a:extLst>
          </p:cNvPr>
          <p:cNvSpPr>
            <a:spLocks noGrp="1"/>
          </p:cNvSpPr>
          <p:nvPr/>
        </p:nvSpPr>
        <p:spPr>
          <a:xfrm>
            <a:off x="4914900" y="3067050"/>
            <a:ext cx="2000250" cy="533400"/>
          </a:xfrm>
          <a:prstGeom prst="rect">
            <a:avLst/>
          </a:prstGeom>
          <a:solidFill>
            <a:srgbClr val="F9FBFF"/>
          </a:solidFill>
          <a:ln w="9525">
            <a:solidFill>
              <a:srgbClr val="DDE7F6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ADB80E3-D908-49F4-8D92-506F54534CF1}"/>
              </a:ext>
            </a:extLst>
          </p:cNvPr>
          <p:cNvSpPr>
            <a:spLocks noGrp="1"/>
          </p:cNvSpPr>
          <p:nvPr/>
        </p:nvSpPr>
        <p:spPr>
          <a:xfrm>
            <a:off x="5029200" y="3200400"/>
            <a:ext cx="177165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ADC 模拟输入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68B5756-ECE9-4F73-880F-DB3719888E87}"/>
              </a:ext>
            </a:extLst>
          </p:cNvPr>
          <p:cNvSpPr>
            <a:spLocks noGrp="1"/>
          </p:cNvSpPr>
          <p:nvPr/>
        </p:nvSpPr>
        <p:spPr>
          <a:xfrm>
            <a:off x="6915150" y="3067050"/>
            <a:ext cx="3429000" cy="533400"/>
          </a:xfrm>
          <a:prstGeom prst="rect">
            <a:avLst/>
          </a:prstGeom>
          <a:solidFill>
            <a:srgbClr val="F9FBFF"/>
          </a:solidFill>
          <a:ln w="9525">
            <a:solidFill>
              <a:srgbClr val="DDE7F6"/>
            </a:solidFill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40227D9-9143-4B76-9A02-FAEDFD24420A}"/>
              </a:ext>
            </a:extLst>
          </p:cNvPr>
          <p:cNvSpPr>
            <a:spLocks noGrp="1"/>
          </p:cNvSpPr>
          <p:nvPr/>
        </p:nvSpPr>
        <p:spPr>
          <a:xfrm>
            <a:off x="7029450" y="3200400"/>
            <a:ext cx="320040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l">
              <a:lnSpc>
                <a:spcPct val="118000"/>
              </a:lnSpc>
              <a:buNone/>
              <a:def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方向键与确认输入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434D389-F263-491C-B45C-AFC70A7F273E}"/>
              </a:ext>
            </a:extLst>
          </p:cNvPr>
          <p:cNvSpPr>
            <a:spLocks noGrp="1"/>
          </p:cNvSpPr>
          <p:nvPr/>
        </p:nvSpPr>
        <p:spPr>
          <a:xfrm>
            <a:off x="914400" y="3600450"/>
            <a:ext cx="1905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7F6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4DE9AC9-155E-463B-A7EA-63A4957E438E}"/>
              </a:ext>
            </a:extLst>
          </p:cNvPr>
          <p:cNvSpPr>
            <a:spLocks noGrp="1"/>
          </p:cNvSpPr>
          <p:nvPr/>
        </p:nvSpPr>
        <p:spPr>
          <a:xfrm>
            <a:off x="1028700" y="3733800"/>
            <a:ext cx="167640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2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四位数码管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894B84C-CBC8-4E3F-81AD-8DA8037820F4}"/>
              </a:ext>
            </a:extLst>
          </p:cNvPr>
          <p:cNvSpPr>
            <a:spLocks noGrp="1"/>
          </p:cNvSpPr>
          <p:nvPr/>
        </p:nvSpPr>
        <p:spPr>
          <a:xfrm>
            <a:off x="2819400" y="3600450"/>
            <a:ext cx="2095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7F6"/>
            </a:solidFill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CD15FBB-8125-49C3-90C2-BAD3195E6895}"/>
              </a:ext>
            </a:extLst>
          </p:cNvPr>
          <p:cNvSpPr>
            <a:spLocks noGrp="1"/>
          </p:cNvSpPr>
          <p:nvPr/>
        </p:nvSpPr>
        <p:spPr>
          <a:xfrm>
            <a:off x="2933700" y="3733800"/>
            <a:ext cx="186690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DIO / CLK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AA8F83D-9466-41B5-BEA8-9444168B492D}"/>
              </a:ext>
            </a:extLst>
          </p:cNvPr>
          <p:cNvSpPr>
            <a:spLocks noGrp="1"/>
          </p:cNvSpPr>
          <p:nvPr/>
        </p:nvSpPr>
        <p:spPr>
          <a:xfrm>
            <a:off x="4914900" y="3600450"/>
            <a:ext cx="20002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7F6"/>
            </a:solidFill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F9BC802-1A52-4BE5-A125-9B80DEFD7B14}"/>
              </a:ext>
            </a:extLst>
          </p:cNvPr>
          <p:cNvSpPr>
            <a:spLocks noGrp="1"/>
          </p:cNvSpPr>
          <p:nvPr/>
        </p:nvSpPr>
        <p:spPr>
          <a:xfrm>
            <a:off x="5029200" y="3733800"/>
            <a:ext cx="177165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双线串行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D41DD12-5A39-495A-85BC-083D62BF2E5D}"/>
              </a:ext>
            </a:extLst>
          </p:cNvPr>
          <p:cNvSpPr>
            <a:spLocks noGrp="1"/>
          </p:cNvSpPr>
          <p:nvPr/>
        </p:nvSpPr>
        <p:spPr>
          <a:xfrm>
            <a:off x="6915150" y="3600450"/>
            <a:ext cx="3429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7F6"/>
            </a:solidFill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285D04C-C6C5-4568-81E7-D82EC763DE6D}"/>
              </a:ext>
            </a:extLst>
          </p:cNvPr>
          <p:cNvSpPr>
            <a:spLocks noGrp="1"/>
          </p:cNvSpPr>
          <p:nvPr/>
        </p:nvSpPr>
        <p:spPr>
          <a:xfrm>
            <a:off x="7029450" y="3733800"/>
            <a:ext cx="320040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l">
              <a:lnSpc>
                <a:spcPct val="118000"/>
              </a:lnSpc>
              <a:buNone/>
              <a:def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分数显示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9A562CE-A67A-4854-9A98-21889D895FAD}"/>
              </a:ext>
            </a:extLst>
          </p:cNvPr>
          <p:cNvSpPr>
            <a:spLocks noGrp="1"/>
          </p:cNvSpPr>
          <p:nvPr/>
        </p:nvSpPr>
        <p:spPr>
          <a:xfrm>
            <a:off x="914400" y="4133850"/>
            <a:ext cx="1905000" cy="533400"/>
          </a:xfrm>
          <a:prstGeom prst="rect">
            <a:avLst/>
          </a:prstGeom>
          <a:solidFill>
            <a:srgbClr val="F9FBFF"/>
          </a:solidFill>
          <a:ln w="9525">
            <a:solidFill>
              <a:srgbClr val="DDE7F6"/>
            </a:solidFill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9CF4D22-0E6B-4156-9CD2-4F593F5DFF95}"/>
              </a:ext>
            </a:extLst>
          </p:cNvPr>
          <p:cNvSpPr>
            <a:spLocks noGrp="1"/>
          </p:cNvSpPr>
          <p:nvPr/>
        </p:nvSpPr>
        <p:spPr>
          <a:xfrm>
            <a:off x="1028700" y="4267200"/>
            <a:ext cx="167640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2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8x8 矩阵灯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1AA0150-E1EA-48F2-AAAA-C5C366F7FE6D}"/>
              </a:ext>
            </a:extLst>
          </p:cNvPr>
          <p:cNvSpPr>
            <a:spLocks noGrp="1"/>
          </p:cNvSpPr>
          <p:nvPr/>
        </p:nvSpPr>
        <p:spPr>
          <a:xfrm>
            <a:off x="2819400" y="4133850"/>
            <a:ext cx="2095500" cy="533400"/>
          </a:xfrm>
          <a:prstGeom prst="rect">
            <a:avLst/>
          </a:prstGeom>
          <a:solidFill>
            <a:srgbClr val="F9FBFF"/>
          </a:solidFill>
          <a:ln w="9525">
            <a:solidFill>
              <a:srgbClr val="DDE7F6"/>
            </a:solidFill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5096B5D-C884-46E0-9398-4F9BC29B23CE}"/>
              </a:ext>
            </a:extLst>
          </p:cNvPr>
          <p:cNvSpPr>
            <a:spLocks noGrp="1"/>
          </p:cNvSpPr>
          <p:nvPr/>
        </p:nvSpPr>
        <p:spPr>
          <a:xfrm>
            <a:off x="2933700" y="4267200"/>
            <a:ext cx="186690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SDA / SCL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C356A92-802F-46A1-BE57-B475F0E6FC70}"/>
              </a:ext>
            </a:extLst>
          </p:cNvPr>
          <p:cNvSpPr>
            <a:spLocks noGrp="1"/>
          </p:cNvSpPr>
          <p:nvPr/>
        </p:nvSpPr>
        <p:spPr>
          <a:xfrm>
            <a:off x="4914900" y="4133850"/>
            <a:ext cx="2000250" cy="533400"/>
          </a:xfrm>
          <a:prstGeom prst="rect">
            <a:avLst/>
          </a:prstGeom>
          <a:solidFill>
            <a:srgbClr val="F9FBFF"/>
          </a:solidFill>
          <a:ln w="9525">
            <a:solidFill>
              <a:srgbClr val="DDE7F6"/>
            </a:solidFill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2E041EB-7558-4827-8DD2-69A28C929FE2}"/>
              </a:ext>
            </a:extLst>
          </p:cNvPr>
          <p:cNvSpPr>
            <a:spLocks noGrp="1"/>
          </p:cNvSpPr>
          <p:nvPr/>
        </p:nvSpPr>
        <p:spPr>
          <a:xfrm>
            <a:off x="5029200" y="4267200"/>
            <a:ext cx="177165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I2C 通信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CF4CE56-C14B-44CC-9F0C-BE4DF419C8E2}"/>
              </a:ext>
            </a:extLst>
          </p:cNvPr>
          <p:cNvSpPr>
            <a:spLocks noGrp="1"/>
          </p:cNvSpPr>
          <p:nvPr/>
        </p:nvSpPr>
        <p:spPr>
          <a:xfrm>
            <a:off x="6915150" y="4133850"/>
            <a:ext cx="3429000" cy="533400"/>
          </a:xfrm>
          <a:prstGeom prst="rect">
            <a:avLst/>
          </a:prstGeom>
          <a:solidFill>
            <a:srgbClr val="F9FBFF"/>
          </a:solidFill>
          <a:ln w="9525">
            <a:solidFill>
              <a:srgbClr val="DDE7F6"/>
            </a:solidFill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C186E3E-D819-4B23-B3CF-890214448C0B}"/>
              </a:ext>
            </a:extLst>
          </p:cNvPr>
          <p:cNvSpPr>
            <a:spLocks noGrp="1"/>
          </p:cNvSpPr>
          <p:nvPr/>
        </p:nvSpPr>
        <p:spPr>
          <a:xfrm>
            <a:off x="7029450" y="4267200"/>
            <a:ext cx="320040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l">
              <a:lnSpc>
                <a:spcPct val="118000"/>
              </a:lnSpc>
              <a:buNone/>
              <a:def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画面与图案显示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750FEF5-1DA9-436D-BA26-36A0C9E016BA}"/>
              </a:ext>
            </a:extLst>
          </p:cNvPr>
          <p:cNvSpPr>
            <a:spLocks noGrp="1"/>
          </p:cNvSpPr>
          <p:nvPr/>
        </p:nvSpPr>
        <p:spPr>
          <a:xfrm>
            <a:off x="914400" y="4667250"/>
            <a:ext cx="1905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7F6"/>
            </a:solidFill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0B7DA74-7862-4177-A61B-478C3CB1ACC0}"/>
              </a:ext>
            </a:extLst>
          </p:cNvPr>
          <p:cNvSpPr>
            <a:spLocks noGrp="1"/>
          </p:cNvSpPr>
          <p:nvPr/>
        </p:nvSpPr>
        <p:spPr>
          <a:xfrm>
            <a:off x="1028700" y="4800600"/>
            <a:ext cx="167640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2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所有模块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91AE83C-7A5C-446A-AA27-5EACE095B4BA}"/>
              </a:ext>
            </a:extLst>
          </p:cNvPr>
          <p:cNvSpPr>
            <a:spLocks noGrp="1"/>
          </p:cNvSpPr>
          <p:nvPr/>
        </p:nvSpPr>
        <p:spPr>
          <a:xfrm>
            <a:off x="2819400" y="4667250"/>
            <a:ext cx="2095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7F6"/>
            </a:solidFill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5127536-F674-4951-8E99-76191AC6A1B6}"/>
              </a:ext>
            </a:extLst>
          </p:cNvPr>
          <p:cNvSpPr>
            <a:spLocks noGrp="1"/>
          </p:cNvSpPr>
          <p:nvPr/>
        </p:nvSpPr>
        <p:spPr>
          <a:xfrm>
            <a:off x="2933700" y="4800600"/>
            <a:ext cx="186690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VCC / GND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C3D88BA-2EE9-4F84-8563-6C9E6F06878E}"/>
              </a:ext>
            </a:extLst>
          </p:cNvPr>
          <p:cNvSpPr>
            <a:spLocks noGrp="1"/>
          </p:cNvSpPr>
          <p:nvPr/>
        </p:nvSpPr>
        <p:spPr>
          <a:xfrm>
            <a:off x="4914900" y="4667250"/>
            <a:ext cx="20002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7F6"/>
            </a:solidFill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8D3A986-A38E-42DE-B25E-5724F93C8D8D}"/>
              </a:ext>
            </a:extLst>
          </p:cNvPr>
          <p:cNvSpPr>
            <a:spLocks noGrp="1"/>
          </p:cNvSpPr>
          <p:nvPr/>
        </p:nvSpPr>
        <p:spPr>
          <a:xfrm>
            <a:off x="5029200" y="4800600"/>
            <a:ext cx="177165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供电与共地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490B505E-F238-453D-893A-08DEEFB14705}"/>
              </a:ext>
            </a:extLst>
          </p:cNvPr>
          <p:cNvSpPr>
            <a:spLocks noGrp="1"/>
          </p:cNvSpPr>
          <p:nvPr/>
        </p:nvSpPr>
        <p:spPr>
          <a:xfrm>
            <a:off x="6915150" y="4667250"/>
            <a:ext cx="3429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7F6"/>
            </a:solidFill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4DAFD47E-0DAB-4725-BFA7-66700A815A67}"/>
              </a:ext>
            </a:extLst>
          </p:cNvPr>
          <p:cNvSpPr>
            <a:spLocks noGrp="1"/>
          </p:cNvSpPr>
          <p:nvPr/>
        </p:nvSpPr>
        <p:spPr>
          <a:xfrm>
            <a:off x="7029450" y="4800600"/>
            <a:ext cx="320040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l">
              <a:lnSpc>
                <a:spcPct val="118000"/>
              </a:lnSpc>
              <a:buNone/>
              <a:def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保证电平参考一致</a:t>
            </a:r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3"/>
          <a:srcRect t="8133" b="8133"/>
          <a:stretch>
            <a:fillRect/>
          </a:stretch>
        </p:blipFill>
        <p:spPr>
          <a:xfrm>
            <a:off x="8839200" y="2000250"/>
            <a:ext cx="2209800" cy="3295650"/>
          </a:xfrm>
          <a:prstGeom prst="roundRect">
            <a:avLst>
              <a:gd name="adj" fmla="val 3448"/>
            </a:avLst>
          </a:prstGeom>
        </p:spPr>
      </p:pic>
      <p:sp>
        <p:nvSpPr>
          <p:cNvPr id="54" name="矩形 53">
            <a:extLst>
              <a:ext uri="{FF2B5EF4-FFF2-40B4-BE49-F238E27FC236}">
                <a16:creationId xmlns:a16="http://schemas.microsoft.com/office/drawing/2014/main" id="{C2F528FE-141A-4AC5-8B68-3B0835812B4A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9982200" cy="9525"/>
          </a:xfrm>
          <a:prstGeom prst="rect">
            <a:avLst/>
          </a:prstGeom>
          <a:solidFill>
            <a:srgbClr val="D9E2F3"/>
          </a:solidFill>
          <a:ln w="0">
            <a:noFill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1A0384D3-59BB-4A9D-BAAF-012FCB1F5C4F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750" b="0" i="0">
                <a:solidFill>
                  <a:srgbClr val="7890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890AD"/>
                </a:solidFill>
                <a:latin typeface="Microsoft YaHei"/>
                <a:ea typeface="Microsoft YaHei"/>
                <a:cs typeface="Microsoft YaHei"/>
              </a:rPr>
              <a:t>ESP32智能游戏竞技台 | OpenHarmony + MQTT + 外设联动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CFE3571-235B-4F99-A24D-3C5C09E690BC}"/>
              </a:ext>
            </a:extLst>
          </p:cNvPr>
          <p:cNvSpPr>
            <a:spLocks noGrp="1"/>
          </p:cNvSpPr>
          <p:nvPr/>
        </p:nvSpPr>
        <p:spPr>
          <a:xfrm>
            <a:off x="10820400" y="6343650"/>
            <a:ext cx="666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r">
              <a:lnSpc>
                <a:spcPct val="118000"/>
              </a:lnSpc>
              <a:buNone/>
              <a:defRPr sz="13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63169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kicker-label">
            <a:extLst>
              <a:ext uri="{FF2B5EF4-FFF2-40B4-BE49-F238E27FC236}">
                <a16:creationId xmlns:a16="http://schemas.microsoft.com/office/drawing/2014/main" id="{A689170E-4FF5-4A0B-9758-AB35D9CB2CFF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19050" rIns="0" bIns="19050" anchor="ctr"/>
          <a:lstStyle/>
          <a:p>
            <a:pPr algn="l">
              <a:lnSpc>
                <a:spcPct val="118000"/>
              </a:lnSpc>
              <a:buNone/>
              <a:defRPr sz="10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SYSTEM FLOW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DBDA00C-0913-4BCA-8E1A-B5BFB18B507E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419100" cy="38100"/>
          </a:xfrm>
          <a:prstGeom prst="rect">
            <a:avLst/>
          </a:prstGeom>
          <a:solidFill>
            <a:srgbClr val="3F7BD8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FA067F4-F1A5-466C-BBED-6B02D941D964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287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2325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系统流程围绕初始化、选择游戏、运行反馈和结果回传形成闭环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D939258-7F6C-487F-BBB9-04FE046CCE33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9144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20000"/>
              </a:lnSpc>
              <a:buNone/>
              <a:defRPr sz="12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参考原 PPT 的流程图页，本项目把硬件循环和 APP 事件纳入同一条主流程。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B1E5F17-92C2-472D-961A-09AD455F0BE4}"/>
              </a:ext>
            </a:extLst>
          </p:cNvPr>
          <p:cNvSpPr>
            <a:spLocks noGrp="1"/>
          </p:cNvSpPr>
          <p:nvPr/>
        </p:nvSpPr>
        <p:spPr>
          <a:xfrm>
            <a:off x="914400" y="2076450"/>
            <a:ext cx="27622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FE7F4"/>
            </a:solidFill>
          </a:ln>
        </p:spPr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78AF7F56-A2AC-4968-AEF9-67D22A59AD5B}"/>
              </a:ext>
            </a:extLst>
          </p:cNvPr>
          <p:cNvSpPr>
            <a:spLocks noGrp="1"/>
          </p:cNvSpPr>
          <p:nvPr/>
        </p:nvSpPr>
        <p:spPr>
          <a:xfrm>
            <a:off x="1085850" y="2266950"/>
            <a:ext cx="361950" cy="361950"/>
          </a:xfrm>
          <a:prstGeom prst="ellipse">
            <a:avLst/>
          </a:prstGeom>
          <a:solidFill>
            <a:srgbClr val="3F7BD8"/>
          </a:solidFill>
          <a:ln w="0"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D9FB43-5ABB-48ED-B820-F56B098F8F91}"/>
              </a:ext>
            </a:extLst>
          </p:cNvPr>
          <p:cNvSpPr>
            <a:spLocks noGrp="1"/>
          </p:cNvSpPr>
          <p:nvPr/>
        </p:nvSpPr>
        <p:spPr>
          <a:xfrm>
            <a:off x="1085850" y="2305050"/>
            <a:ext cx="36195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9ABE23E-B5C0-4963-949F-73725C4E295E}"/>
              </a:ext>
            </a:extLst>
          </p:cNvPr>
          <p:cNvSpPr>
            <a:spLocks noGrp="1"/>
          </p:cNvSpPr>
          <p:nvPr/>
        </p:nvSpPr>
        <p:spPr>
          <a:xfrm>
            <a:off x="1562100" y="2247900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l">
              <a:lnSpc>
                <a:spcPct val="118000"/>
              </a:lnSpc>
              <a:buNone/>
              <a:defRPr sz="13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系统初始化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FC49342-2F96-45C1-A6C9-DADB51D59599}"/>
              </a:ext>
            </a:extLst>
          </p:cNvPr>
          <p:cNvSpPr>
            <a:spLocks noGrp="1"/>
          </p:cNvSpPr>
          <p:nvPr/>
        </p:nvSpPr>
        <p:spPr>
          <a:xfrm>
            <a:off x="1562100" y="2571750"/>
            <a:ext cx="1809750" cy="4000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l">
              <a:lnSpc>
                <a:spcPct val="118000"/>
              </a:lnSpc>
              <a:buNone/>
              <a:defRPr sz="9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WiFi / MQTT / GPIO / ADC / 显示模块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C77D8D0-979F-483C-8864-D86203AA5A89}"/>
              </a:ext>
            </a:extLst>
          </p:cNvPr>
          <p:cNvSpPr>
            <a:spLocks noGrp="1"/>
          </p:cNvSpPr>
          <p:nvPr/>
        </p:nvSpPr>
        <p:spPr>
          <a:xfrm>
            <a:off x="3676650" y="2600325"/>
            <a:ext cx="666750" cy="19050"/>
          </a:xfrm>
          <a:prstGeom prst="rect">
            <a:avLst/>
          </a:prstGeom>
          <a:solidFill>
            <a:srgbClr val="3F7BD8"/>
          </a:solidFill>
          <a:ln w="0">
            <a:noFill/>
          </a:ln>
        </p:spPr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7CA336E-0C6F-4C2E-9CAF-990E08853B8F}"/>
              </a:ext>
            </a:extLst>
          </p:cNvPr>
          <p:cNvSpPr>
            <a:spLocks noGrp="1"/>
          </p:cNvSpPr>
          <p:nvPr/>
        </p:nvSpPr>
        <p:spPr>
          <a:xfrm>
            <a:off x="4343400" y="2076450"/>
            <a:ext cx="27622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FE7F4"/>
            </a:solidFill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46CE598-C61F-4017-B0BE-CC7193E19A36}"/>
              </a:ext>
            </a:extLst>
          </p:cNvPr>
          <p:cNvSpPr>
            <a:spLocks noGrp="1"/>
          </p:cNvSpPr>
          <p:nvPr/>
        </p:nvSpPr>
        <p:spPr>
          <a:xfrm>
            <a:off x="4514850" y="2266950"/>
            <a:ext cx="361950" cy="361950"/>
          </a:xfrm>
          <a:prstGeom prst="ellipse">
            <a:avLst/>
          </a:prstGeom>
          <a:solidFill>
            <a:srgbClr val="3F7BD8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7461E38-2415-48AE-BF4E-B0154A3935B4}"/>
              </a:ext>
            </a:extLst>
          </p:cNvPr>
          <p:cNvSpPr>
            <a:spLocks noGrp="1"/>
          </p:cNvSpPr>
          <p:nvPr/>
        </p:nvSpPr>
        <p:spPr>
          <a:xfrm>
            <a:off x="4514850" y="2305050"/>
            <a:ext cx="36195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560759F-0665-4A8B-81AB-8EB6DE235CC2}"/>
              </a:ext>
            </a:extLst>
          </p:cNvPr>
          <p:cNvSpPr>
            <a:spLocks noGrp="1"/>
          </p:cNvSpPr>
          <p:nvPr/>
        </p:nvSpPr>
        <p:spPr>
          <a:xfrm>
            <a:off x="4991100" y="2247900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l">
              <a:lnSpc>
                <a:spcPct val="118000"/>
              </a:lnSpc>
              <a:buNone/>
              <a:defRPr sz="13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APP 选择游戏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00C4F2-DD96-40B8-99D2-5F565282153B}"/>
              </a:ext>
            </a:extLst>
          </p:cNvPr>
          <p:cNvSpPr>
            <a:spLocks noGrp="1"/>
          </p:cNvSpPr>
          <p:nvPr/>
        </p:nvSpPr>
        <p:spPr>
          <a:xfrm>
            <a:off x="4991100" y="2571750"/>
            <a:ext cx="1809750" cy="4000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l">
              <a:lnSpc>
                <a:spcPct val="118000"/>
              </a:lnSpc>
              <a:buNone/>
              <a:defRPr sz="9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贪吃蛇、俄罗斯方块、小恐龙、飞机大战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457F5BC-C1C9-429F-B6AA-CB37DA69C5E2}"/>
              </a:ext>
            </a:extLst>
          </p:cNvPr>
          <p:cNvSpPr>
            <a:spLocks noGrp="1"/>
          </p:cNvSpPr>
          <p:nvPr/>
        </p:nvSpPr>
        <p:spPr>
          <a:xfrm>
            <a:off x="7105650" y="2600325"/>
            <a:ext cx="666750" cy="19050"/>
          </a:xfrm>
          <a:prstGeom prst="rect">
            <a:avLst/>
          </a:prstGeom>
          <a:solidFill>
            <a:srgbClr val="3F7BD8"/>
          </a:solidFill>
          <a:ln w="0">
            <a:noFill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6FADBEBB-494A-497C-AADE-0051B2E88D42}"/>
              </a:ext>
            </a:extLst>
          </p:cNvPr>
          <p:cNvSpPr>
            <a:spLocks noGrp="1"/>
          </p:cNvSpPr>
          <p:nvPr/>
        </p:nvSpPr>
        <p:spPr>
          <a:xfrm>
            <a:off x="7772400" y="2076450"/>
            <a:ext cx="27622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FE7F4"/>
            </a:solidFill>
          </a:ln>
        </p:spPr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5BBBBCB-FF14-49C5-8462-847EECA76726}"/>
              </a:ext>
            </a:extLst>
          </p:cNvPr>
          <p:cNvSpPr>
            <a:spLocks noGrp="1"/>
          </p:cNvSpPr>
          <p:nvPr/>
        </p:nvSpPr>
        <p:spPr>
          <a:xfrm>
            <a:off x="7943850" y="2266950"/>
            <a:ext cx="361950" cy="361950"/>
          </a:xfrm>
          <a:prstGeom prst="ellipse">
            <a:avLst/>
          </a:prstGeom>
          <a:solidFill>
            <a:srgbClr val="3F7BD8"/>
          </a:solidFill>
          <a:ln w="0"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BE549C0-261B-4B67-84B8-977A6E843DA1}"/>
              </a:ext>
            </a:extLst>
          </p:cNvPr>
          <p:cNvSpPr>
            <a:spLocks noGrp="1"/>
          </p:cNvSpPr>
          <p:nvPr/>
        </p:nvSpPr>
        <p:spPr>
          <a:xfrm>
            <a:off x="7943850" y="2305050"/>
            <a:ext cx="36195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AB2A761-F025-47C7-81CD-0962F021C792}"/>
              </a:ext>
            </a:extLst>
          </p:cNvPr>
          <p:cNvSpPr>
            <a:spLocks noGrp="1"/>
          </p:cNvSpPr>
          <p:nvPr/>
        </p:nvSpPr>
        <p:spPr>
          <a:xfrm>
            <a:off x="8420100" y="2247900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l">
              <a:lnSpc>
                <a:spcPct val="118000"/>
              </a:lnSpc>
              <a:buNone/>
              <a:defRPr sz="13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下发控制指令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58CF982-657B-44D8-B298-6266B4729906}"/>
              </a:ext>
            </a:extLst>
          </p:cNvPr>
          <p:cNvSpPr>
            <a:spLocks noGrp="1"/>
          </p:cNvSpPr>
          <p:nvPr/>
        </p:nvSpPr>
        <p:spPr>
          <a:xfrm>
            <a:off x="8420100" y="2571750"/>
            <a:ext cx="1809750" cy="4000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l">
              <a:lnSpc>
                <a:spcPct val="118000"/>
              </a:lnSpc>
              <a:buNone/>
              <a:defRPr sz="9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APP 发布 game/cmd 到 Broker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CE11795-7FBC-44BF-B6C9-C8D02C83AE8B}"/>
              </a:ext>
            </a:extLst>
          </p:cNvPr>
          <p:cNvSpPr>
            <a:spLocks noGrp="1"/>
          </p:cNvSpPr>
          <p:nvPr/>
        </p:nvSpPr>
        <p:spPr>
          <a:xfrm>
            <a:off x="9144000" y="3143250"/>
            <a:ext cx="19050" cy="628650"/>
          </a:xfrm>
          <a:prstGeom prst="rect">
            <a:avLst/>
          </a:prstGeom>
          <a:solidFill>
            <a:srgbClr val="3F7BD8"/>
          </a:solidFill>
          <a:ln w="0">
            <a:noFill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AB1861F3-F07F-482E-BC3B-36312D6F1D4A}"/>
              </a:ext>
            </a:extLst>
          </p:cNvPr>
          <p:cNvSpPr>
            <a:spLocks noGrp="1"/>
          </p:cNvSpPr>
          <p:nvPr/>
        </p:nvSpPr>
        <p:spPr>
          <a:xfrm>
            <a:off x="914400" y="3771900"/>
            <a:ext cx="2762250" cy="1066800"/>
          </a:xfrm>
          <a:prstGeom prst="roundRect">
            <a:avLst>
              <a:gd name="adj" fmla="val 7143"/>
            </a:avLst>
          </a:prstGeom>
          <a:solidFill>
            <a:srgbClr val="0E1930"/>
          </a:solidFill>
          <a:ln w="9525">
            <a:solidFill>
              <a:srgbClr val="DFE7F4"/>
            </a:solidFill>
          </a:ln>
        </p:spPr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F76A32B1-BC75-45C1-A09B-D03159ACABD1}"/>
              </a:ext>
            </a:extLst>
          </p:cNvPr>
          <p:cNvSpPr>
            <a:spLocks noGrp="1"/>
          </p:cNvSpPr>
          <p:nvPr/>
        </p:nvSpPr>
        <p:spPr>
          <a:xfrm>
            <a:off x="1085850" y="3962400"/>
            <a:ext cx="361950" cy="361950"/>
          </a:xfrm>
          <a:prstGeom prst="ellipse">
            <a:avLst/>
          </a:prstGeom>
          <a:solidFill>
            <a:srgbClr val="19A658"/>
          </a:solidFill>
          <a:ln w="0">
            <a:noFill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3965D81-005B-4CBB-A43A-A03EA44C74DA}"/>
              </a:ext>
            </a:extLst>
          </p:cNvPr>
          <p:cNvSpPr>
            <a:spLocks noGrp="1"/>
          </p:cNvSpPr>
          <p:nvPr/>
        </p:nvSpPr>
        <p:spPr>
          <a:xfrm>
            <a:off x="1085850" y="4000500"/>
            <a:ext cx="36195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09653D9-DC4F-4ED7-A6CC-A126384B53A5}"/>
              </a:ext>
            </a:extLst>
          </p:cNvPr>
          <p:cNvSpPr>
            <a:spLocks noGrp="1"/>
          </p:cNvSpPr>
          <p:nvPr/>
        </p:nvSpPr>
        <p:spPr>
          <a:xfrm>
            <a:off x="1562100" y="3943350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l">
              <a:lnSpc>
                <a:spcPct val="118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ESP32 执行游戏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A1E4C54-A613-440D-861E-77AE066D8F87}"/>
              </a:ext>
            </a:extLst>
          </p:cNvPr>
          <p:cNvSpPr>
            <a:spLocks noGrp="1"/>
          </p:cNvSpPr>
          <p:nvPr/>
        </p:nvSpPr>
        <p:spPr>
          <a:xfrm>
            <a:off x="1562100" y="4267200"/>
            <a:ext cx="1809750" cy="4000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l">
              <a:lnSpc>
                <a:spcPct val="118000"/>
              </a:lnSpc>
              <a:buNone/>
              <a:defRPr sz="900" b="0" i="0">
                <a:solidFill>
                  <a:srgbClr val="BFD3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BFD3F3"/>
                </a:solidFill>
                <a:latin typeface="Microsoft YaHei"/>
                <a:ea typeface="Microsoft YaHei"/>
                <a:cs typeface="Microsoft YaHei"/>
              </a:rPr>
              <a:t>读取按键、刷新矩阵灯、更新数码管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7E225EAC-40BD-422D-AEBD-76BBEEC7C1A4}"/>
              </a:ext>
            </a:extLst>
          </p:cNvPr>
          <p:cNvSpPr>
            <a:spLocks noGrp="1"/>
          </p:cNvSpPr>
          <p:nvPr/>
        </p:nvSpPr>
        <p:spPr>
          <a:xfrm>
            <a:off x="4343400" y="3771900"/>
            <a:ext cx="27622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FE7F4"/>
            </a:solidFill>
          </a:ln>
        </p:spPr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A10E0230-26F2-4540-A449-067461C61F9C}"/>
              </a:ext>
            </a:extLst>
          </p:cNvPr>
          <p:cNvSpPr>
            <a:spLocks noGrp="1"/>
          </p:cNvSpPr>
          <p:nvPr/>
        </p:nvSpPr>
        <p:spPr>
          <a:xfrm>
            <a:off x="4514850" y="3962400"/>
            <a:ext cx="361950" cy="361950"/>
          </a:xfrm>
          <a:prstGeom prst="ellipse">
            <a:avLst/>
          </a:prstGeom>
          <a:solidFill>
            <a:srgbClr val="3F7BD8"/>
          </a:solidFill>
          <a:ln w="0">
            <a:noFill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F7B6DE2-A171-4F09-AE8D-2E49BCB7576E}"/>
              </a:ext>
            </a:extLst>
          </p:cNvPr>
          <p:cNvSpPr>
            <a:spLocks noGrp="1"/>
          </p:cNvSpPr>
          <p:nvPr/>
        </p:nvSpPr>
        <p:spPr>
          <a:xfrm>
            <a:off x="4514850" y="4000500"/>
            <a:ext cx="36195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AF37039-3E20-4ADD-94E8-42978FDF7536}"/>
              </a:ext>
            </a:extLst>
          </p:cNvPr>
          <p:cNvSpPr>
            <a:spLocks noGrp="1"/>
          </p:cNvSpPr>
          <p:nvPr/>
        </p:nvSpPr>
        <p:spPr>
          <a:xfrm>
            <a:off x="4991100" y="3943350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l">
              <a:lnSpc>
                <a:spcPct val="118000"/>
              </a:lnSpc>
              <a:buNone/>
              <a:defRPr sz="13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状态与分数回传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2EB36FC-3EB2-486C-A576-402F4A5F8C68}"/>
              </a:ext>
            </a:extLst>
          </p:cNvPr>
          <p:cNvSpPr>
            <a:spLocks noGrp="1"/>
          </p:cNvSpPr>
          <p:nvPr/>
        </p:nvSpPr>
        <p:spPr>
          <a:xfrm>
            <a:off x="4991100" y="4267200"/>
            <a:ext cx="1809750" cy="4000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l">
              <a:lnSpc>
                <a:spcPct val="118000"/>
              </a:lnSpc>
              <a:buNone/>
              <a:defRPr sz="9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发布 game/state、score 等消息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2010909-4A37-424C-A876-01A883CD8359}"/>
              </a:ext>
            </a:extLst>
          </p:cNvPr>
          <p:cNvSpPr>
            <a:spLocks noGrp="1"/>
          </p:cNvSpPr>
          <p:nvPr/>
        </p:nvSpPr>
        <p:spPr>
          <a:xfrm>
            <a:off x="3676650" y="4295775"/>
            <a:ext cx="666750" cy="19050"/>
          </a:xfrm>
          <a:prstGeom prst="rect">
            <a:avLst/>
          </a:prstGeom>
          <a:solidFill>
            <a:srgbClr val="19A658"/>
          </a:solidFill>
          <a:ln w="0">
            <a:noFill/>
          </a:ln>
        </p:spPr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CA652C65-2F0F-4AAA-B245-C8C799786744}"/>
              </a:ext>
            </a:extLst>
          </p:cNvPr>
          <p:cNvSpPr>
            <a:spLocks noGrp="1"/>
          </p:cNvSpPr>
          <p:nvPr/>
        </p:nvSpPr>
        <p:spPr>
          <a:xfrm>
            <a:off x="7772400" y="3771900"/>
            <a:ext cx="27622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FE7F4"/>
            </a:solidFill>
          </a:ln>
        </p:spPr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3D1D61E1-FAA3-4545-B2AA-4B0AAB98737A}"/>
              </a:ext>
            </a:extLst>
          </p:cNvPr>
          <p:cNvSpPr>
            <a:spLocks noGrp="1"/>
          </p:cNvSpPr>
          <p:nvPr/>
        </p:nvSpPr>
        <p:spPr>
          <a:xfrm>
            <a:off x="7943850" y="3962400"/>
            <a:ext cx="361950" cy="361950"/>
          </a:xfrm>
          <a:prstGeom prst="ellipse">
            <a:avLst/>
          </a:prstGeom>
          <a:solidFill>
            <a:srgbClr val="3F7BD8"/>
          </a:solidFill>
          <a:ln w="0">
            <a:noFill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D3C9950-168D-41A9-A28D-31DBD18CA5E5}"/>
              </a:ext>
            </a:extLst>
          </p:cNvPr>
          <p:cNvSpPr>
            <a:spLocks noGrp="1"/>
          </p:cNvSpPr>
          <p:nvPr/>
        </p:nvSpPr>
        <p:spPr>
          <a:xfrm>
            <a:off x="7943850" y="4000500"/>
            <a:ext cx="36195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F4A2063-717F-4F0C-8AF0-1516D9F73E7F}"/>
              </a:ext>
            </a:extLst>
          </p:cNvPr>
          <p:cNvSpPr>
            <a:spLocks noGrp="1"/>
          </p:cNvSpPr>
          <p:nvPr/>
        </p:nvSpPr>
        <p:spPr>
          <a:xfrm>
            <a:off x="8420100" y="3943350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l">
              <a:lnSpc>
                <a:spcPct val="118000"/>
              </a:lnSpc>
              <a:buNone/>
              <a:defRPr sz="13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APP 展示结果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FBBD335-6293-4679-9A4D-7DFC642630EE}"/>
              </a:ext>
            </a:extLst>
          </p:cNvPr>
          <p:cNvSpPr>
            <a:spLocks noGrp="1"/>
          </p:cNvSpPr>
          <p:nvPr/>
        </p:nvSpPr>
        <p:spPr>
          <a:xfrm>
            <a:off x="8420100" y="4267200"/>
            <a:ext cx="1809750" cy="4000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l">
              <a:lnSpc>
                <a:spcPct val="118000"/>
              </a:lnSpc>
              <a:buNone/>
              <a:defRPr sz="9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排行榜、成就、复活弹窗与矩阵控制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014F7BF-35ED-476A-A42A-0E288235F8CF}"/>
              </a:ext>
            </a:extLst>
          </p:cNvPr>
          <p:cNvSpPr>
            <a:spLocks noGrp="1"/>
          </p:cNvSpPr>
          <p:nvPr/>
        </p:nvSpPr>
        <p:spPr>
          <a:xfrm>
            <a:off x="7105650" y="4295775"/>
            <a:ext cx="666750" cy="19050"/>
          </a:xfrm>
          <a:prstGeom prst="rect">
            <a:avLst/>
          </a:prstGeom>
          <a:solidFill>
            <a:srgbClr val="19A658"/>
          </a:solidFill>
          <a:ln w="0">
            <a:noFill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F6CD846-2E60-4FA6-A0A1-1C4F7B3CB4C3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9982200" cy="9525"/>
          </a:xfrm>
          <a:prstGeom prst="rect">
            <a:avLst/>
          </a:prstGeom>
          <a:solidFill>
            <a:srgbClr val="D9E2F3"/>
          </a:solidFill>
          <a:ln w="0">
            <a:noFill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CB9FE28-8C1C-40B4-B185-A91EBB768640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750" b="0" i="0">
                <a:solidFill>
                  <a:srgbClr val="7890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890AD"/>
                </a:solidFill>
                <a:latin typeface="Microsoft YaHei"/>
                <a:ea typeface="Microsoft YaHei"/>
                <a:cs typeface="Microsoft YaHei"/>
              </a:rPr>
              <a:t>ESP32智能游戏竞技台 | OpenHarmony + MQTT + 外设联动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79E2E67-030B-4E07-8F4A-079665D8FAA3}"/>
              </a:ext>
            </a:extLst>
          </p:cNvPr>
          <p:cNvSpPr>
            <a:spLocks noGrp="1"/>
          </p:cNvSpPr>
          <p:nvPr/>
        </p:nvSpPr>
        <p:spPr>
          <a:xfrm>
            <a:off x="10820400" y="6343650"/>
            <a:ext cx="666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r">
              <a:lnSpc>
                <a:spcPct val="118000"/>
              </a:lnSpc>
              <a:buNone/>
              <a:defRPr sz="13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6899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80E94DE6-D893-412F-86BE-719BAA3462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930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4CC6AA7-A6C1-4218-AE30-33045FADA238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76200" cy="4476750"/>
          </a:xfrm>
          <a:prstGeom prst="rect">
            <a:avLst/>
          </a:prstGeom>
          <a:solidFill>
            <a:srgbClr val="3F7BD8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ADE766A-0022-4581-B73A-9A6361B0C38C}"/>
              </a:ext>
            </a:extLst>
          </p:cNvPr>
          <p:cNvSpPr>
            <a:spLocks noGrp="1"/>
          </p:cNvSpPr>
          <p:nvPr/>
        </p:nvSpPr>
        <p:spPr>
          <a:xfrm>
            <a:off x="838200" y="1104900"/>
            <a:ext cx="857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2100" b="1" i="0">
                <a:solidFill>
                  <a:srgbClr val="77A6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77A6F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538A47B-124C-445B-BB21-1ABB87804E90}"/>
              </a:ext>
            </a:extLst>
          </p:cNvPr>
          <p:cNvSpPr>
            <a:spLocks noGrp="1"/>
          </p:cNvSpPr>
          <p:nvPr/>
        </p:nvSpPr>
        <p:spPr>
          <a:xfrm>
            <a:off x="838200" y="1771650"/>
            <a:ext cx="609600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3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南向实现部分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A8EA9A-D9F0-467E-8E27-409C209B656B}"/>
              </a:ext>
            </a:extLst>
          </p:cNvPr>
          <p:cNvSpPr>
            <a:spLocks noGrp="1"/>
          </p:cNvSpPr>
          <p:nvPr/>
        </p:nvSpPr>
        <p:spPr>
          <a:xfrm>
            <a:off x="876300" y="2724150"/>
            <a:ext cx="4953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1350" b="0" i="0">
                <a:solidFill>
                  <a:srgbClr val="A9BD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A9BDE0"/>
                </a:solidFill>
                <a:latin typeface="Microsoft YaHei"/>
                <a:ea typeface="Microsoft YaHei"/>
                <a:cs typeface="Microsoft YaHei"/>
              </a:rPr>
              <a:t>ESP32 Peripheral Implementation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C684FF2-05CB-4D09-93F3-6D00436AC8E9}"/>
              </a:ext>
            </a:extLst>
          </p:cNvPr>
          <p:cNvSpPr>
            <a:spLocks noGrp="1"/>
          </p:cNvSpPr>
          <p:nvPr/>
        </p:nvSpPr>
        <p:spPr>
          <a:xfrm>
            <a:off x="7429500" y="1809750"/>
            <a:ext cx="1143000" cy="800100"/>
          </a:xfrm>
          <a:prstGeom prst="roundRect">
            <a:avLst>
              <a:gd name="adj" fmla="val 9524"/>
            </a:avLst>
          </a:prstGeom>
          <a:solidFill>
            <a:srgbClr val="3F7BD8"/>
          </a:solidFill>
          <a:ln w="9525">
            <a:solidFill>
              <a:srgbClr val="315280"/>
            </a:solidFill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7D7C3F-E435-41EB-9F4E-1A8608BE3791}"/>
              </a:ext>
            </a:extLst>
          </p:cNvPr>
          <p:cNvSpPr>
            <a:spLocks noGrp="1"/>
          </p:cNvSpPr>
          <p:nvPr/>
        </p:nvSpPr>
        <p:spPr>
          <a:xfrm>
            <a:off x="7543800" y="2038350"/>
            <a:ext cx="914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lnSpc>
                <a:spcPct val="118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ESP32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0FA78B8-FEC7-4DD8-80A0-8137C2190C64}"/>
              </a:ext>
            </a:extLst>
          </p:cNvPr>
          <p:cNvSpPr>
            <a:spLocks noGrp="1"/>
          </p:cNvSpPr>
          <p:nvPr/>
        </p:nvSpPr>
        <p:spPr>
          <a:xfrm>
            <a:off x="9144000" y="1809750"/>
            <a:ext cx="1143000" cy="800100"/>
          </a:xfrm>
          <a:prstGeom prst="roundRect">
            <a:avLst>
              <a:gd name="adj" fmla="val 9524"/>
            </a:avLst>
          </a:prstGeom>
          <a:solidFill>
            <a:srgbClr val="172946"/>
          </a:solidFill>
          <a:ln w="9525">
            <a:solidFill>
              <a:srgbClr val="315280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4A57B8-635F-47D8-A029-5681928DEC59}"/>
              </a:ext>
            </a:extLst>
          </p:cNvPr>
          <p:cNvSpPr>
            <a:spLocks noGrp="1"/>
          </p:cNvSpPr>
          <p:nvPr/>
        </p:nvSpPr>
        <p:spPr>
          <a:xfrm>
            <a:off x="9258300" y="2038350"/>
            <a:ext cx="914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lnSpc>
                <a:spcPct val="118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HarmonyOS APP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26D25B3-8931-4972-BCCC-49B3F8092F56}"/>
              </a:ext>
            </a:extLst>
          </p:cNvPr>
          <p:cNvSpPr>
            <a:spLocks noGrp="1"/>
          </p:cNvSpPr>
          <p:nvPr/>
        </p:nvSpPr>
        <p:spPr>
          <a:xfrm>
            <a:off x="7429500" y="3048000"/>
            <a:ext cx="1143000" cy="800100"/>
          </a:xfrm>
          <a:prstGeom prst="roundRect">
            <a:avLst>
              <a:gd name="adj" fmla="val 9524"/>
            </a:avLst>
          </a:prstGeom>
          <a:solidFill>
            <a:srgbClr val="172946"/>
          </a:solidFill>
          <a:ln w="9525">
            <a:solidFill>
              <a:srgbClr val="315280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B482DA5-62E0-446B-AC57-5F2CDE280D0F}"/>
              </a:ext>
            </a:extLst>
          </p:cNvPr>
          <p:cNvSpPr>
            <a:spLocks noGrp="1"/>
          </p:cNvSpPr>
          <p:nvPr/>
        </p:nvSpPr>
        <p:spPr>
          <a:xfrm>
            <a:off x="7543800" y="3276600"/>
            <a:ext cx="914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lnSpc>
                <a:spcPct val="118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MQTT Broker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1B5F782-8DEB-4CBB-9A13-DD1F4F054B5C}"/>
              </a:ext>
            </a:extLst>
          </p:cNvPr>
          <p:cNvSpPr>
            <a:spLocks noGrp="1"/>
          </p:cNvSpPr>
          <p:nvPr/>
        </p:nvSpPr>
        <p:spPr>
          <a:xfrm>
            <a:off x="9144000" y="3048000"/>
            <a:ext cx="1143000" cy="800100"/>
          </a:xfrm>
          <a:prstGeom prst="roundRect">
            <a:avLst>
              <a:gd name="adj" fmla="val 9524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rgbClr val="315280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2DDD77F-574E-42BA-B5B9-7B030E98AB84}"/>
              </a:ext>
            </a:extLst>
          </p:cNvPr>
          <p:cNvSpPr>
            <a:spLocks noGrp="1"/>
          </p:cNvSpPr>
          <p:nvPr/>
        </p:nvSpPr>
        <p:spPr>
          <a:xfrm>
            <a:off x="9258300" y="3276600"/>
            <a:ext cx="914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lnSpc>
                <a:spcPct val="118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8x8 Matrix</a:t>
            </a:r>
          </a:p>
        </p:txBody>
      </p:sp>
    </p:spTree>
    <p:extLst>
      <p:ext uri="{BB962C8B-B14F-4D97-AF65-F5344CB8AC3E}">
        <p14:creationId xmlns:p14="http://schemas.microsoft.com/office/powerpoint/2010/main" val="938487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kicker-label">
            <a:extLst>
              <a:ext uri="{FF2B5EF4-FFF2-40B4-BE49-F238E27FC236}">
                <a16:creationId xmlns:a16="http://schemas.microsoft.com/office/drawing/2014/main" id="{DC46EB7B-CF35-4712-9B22-DF1D72236D02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19050" rIns="0" bIns="19050" anchor="ctr"/>
          <a:lstStyle/>
          <a:p>
            <a:pPr algn="l">
              <a:lnSpc>
                <a:spcPct val="118000"/>
              </a:lnSpc>
              <a:buNone/>
              <a:defRPr sz="10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BUZZER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3AE97A0-0B95-44A9-AF62-582D6B13E11F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419100" cy="38100"/>
          </a:xfrm>
          <a:prstGeom prst="rect">
            <a:avLst/>
          </a:prstGeom>
          <a:solidFill>
            <a:srgbClr val="3F7BD8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A465B5C-9D14-41FD-BEE6-B4FD58DA28A1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2870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蜂鸣器负责把游戏事件转化为即时音效反馈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4A1C562-2BDC-47D0-82A2-3E3855E4E520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9144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20000"/>
              </a:lnSpc>
              <a:buNone/>
              <a:defRPr sz="12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通过 GPIO 输出高低电平或 PWM 方波，形成得分、碰撞、结束等不同提示音。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t="26562" b="26562"/>
          <a:stretch>
            <a:fillRect/>
          </a:stretch>
        </p:blipFill>
        <p:spPr>
          <a:xfrm>
            <a:off x="876300" y="1809750"/>
            <a:ext cx="3733800" cy="4095750"/>
          </a:xfrm>
          <a:prstGeom prst="roundRect">
            <a:avLst>
              <a:gd name="adj" fmla="val 2041"/>
            </a:avLst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53B4A3DD-6DE9-4DDF-8263-818EB5C7FE27}"/>
              </a:ext>
            </a:extLst>
          </p:cNvPr>
          <p:cNvSpPr>
            <a:spLocks noGrp="1"/>
          </p:cNvSpPr>
          <p:nvPr/>
        </p:nvSpPr>
        <p:spPr>
          <a:xfrm>
            <a:off x="5162550" y="2019300"/>
            <a:ext cx="5429250" cy="16383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FE7F4"/>
            </a:solidFill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DCFD52-A9E4-4F32-BCE1-519098CA026C}"/>
              </a:ext>
            </a:extLst>
          </p:cNvPr>
          <p:cNvSpPr>
            <a:spLocks noGrp="1"/>
          </p:cNvSpPr>
          <p:nvPr/>
        </p:nvSpPr>
        <p:spPr>
          <a:xfrm>
            <a:off x="5410200" y="2190750"/>
            <a:ext cx="1524000" cy="26670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l">
              <a:lnSpc>
                <a:spcPct val="118000"/>
              </a:lnSpc>
              <a:buNone/>
              <a:defRPr sz="15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实现要点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698168A-100C-4BB5-B933-711023BC5F82}"/>
              </a:ext>
            </a:extLst>
          </p:cNvPr>
          <p:cNvSpPr>
            <a:spLocks noGrp="1"/>
          </p:cNvSpPr>
          <p:nvPr/>
        </p:nvSpPr>
        <p:spPr>
          <a:xfrm>
            <a:off x="5467350" y="2686050"/>
            <a:ext cx="95250" cy="95250"/>
          </a:xfrm>
          <a:prstGeom prst="ellipse">
            <a:avLst/>
          </a:prstGeom>
          <a:solidFill>
            <a:srgbClr val="F05A16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C79BB8-358D-49F1-953E-2A7DCBCE94A5}"/>
              </a:ext>
            </a:extLst>
          </p:cNvPr>
          <p:cNvSpPr>
            <a:spLocks noGrp="1"/>
          </p:cNvSpPr>
          <p:nvPr/>
        </p:nvSpPr>
        <p:spPr>
          <a:xfrm>
            <a:off x="5695950" y="2609850"/>
            <a:ext cx="4343400" cy="247650"/>
          </a:xfrm>
          <a:prstGeom prst="rect">
            <a:avLst/>
          </a:prstGeom>
          <a:noFill/>
          <a:ln w="0">
            <a:noFill/>
          </a:ln>
        </p:spPr>
        <p:txBody>
          <a:bodyPr lIns="0" tIns="19050" rIns="0" bIns="19050" anchor="t"/>
          <a:lstStyle/>
          <a:p>
            <a:pPr algn="l">
              <a:lnSpc>
                <a:spcPct val="122000"/>
              </a:lnSpc>
              <a:buNone/>
              <a:defRPr sz="1050" b="0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初始化蜂鸣器 GPIO 输出模式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9BBBAAD9-2F40-425F-84BC-0230BE53CD00}"/>
              </a:ext>
            </a:extLst>
          </p:cNvPr>
          <p:cNvSpPr>
            <a:spLocks noGrp="1"/>
          </p:cNvSpPr>
          <p:nvPr/>
        </p:nvSpPr>
        <p:spPr>
          <a:xfrm>
            <a:off x="5467350" y="2971800"/>
            <a:ext cx="95250" cy="95250"/>
          </a:xfrm>
          <a:prstGeom prst="ellipse">
            <a:avLst/>
          </a:prstGeom>
          <a:solidFill>
            <a:srgbClr val="F05A16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DA4C28D-CAAE-45F9-BDF9-8FACF0799780}"/>
              </a:ext>
            </a:extLst>
          </p:cNvPr>
          <p:cNvSpPr>
            <a:spLocks noGrp="1"/>
          </p:cNvSpPr>
          <p:nvPr/>
        </p:nvSpPr>
        <p:spPr>
          <a:xfrm>
            <a:off x="5695950" y="2895600"/>
            <a:ext cx="4343400" cy="247650"/>
          </a:xfrm>
          <a:prstGeom prst="rect">
            <a:avLst/>
          </a:prstGeom>
          <a:noFill/>
          <a:ln w="0">
            <a:noFill/>
          </a:ln>
        </p:spPr>
        <p:txBody>
          <a:bodyPr lIns="0" tIns="19050" rIns="0" bIns="19050" anchor="t"/>
          <a:lstStyle/>
          <a:p>
            <a:pPr algn="l">
              <a:lnSpc>
                <a:spcPct val="122000"/>
              </a:lnSpc>
              <a:buNone/>
              <a:defRPr sz="1050" b="0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根据游戏事件触发不同持续时间和频率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8BAF359-7306-40F7-8C26-DCF72875B458}"/>
              </a:ext>
            </a:extLst>
          </p:cNvPr>
          <p:cNvSpPr>
            <a:spLocks noGrp="1"/>
          </p:cNvSpPr>
          <p:nvPr/>
        </p:nvSpPr>
        <p:spPr>
          <a:xfrm>
            <a:off x="5467350" y="3257550"/>
            <a:ext cx="95250" cy="95250"/>
          </a:xfrm>
          <a:prstGeom prst="ellipse">
            <a:avLst/>
          </a:prstGeom>
          <a:solidFill>
            <a:srgbClr val="F05A16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E5A2033-2148-4293-86B2-B4AB58660074}"/>
              </a:ext>
            </a:extLst>
          </p:cNvPr>
          <p:cNvSpPr>
            <a:spLocks noGrp="1"/>
          </p:cNvSpPr>
          <p:nvPr/>
        </p:nvSpPr>
        <p:spPr>
          <a:xfrm>
            <a:off x="5695950" y="3181350"/>
            <a:ext cx="4343400" cy="247650"/>
          </a:xfrm>
          <a:prstGeom prst="rect">
            <a:avLst/>
          </a:prstGeom>
          <a:noFill/>
          <a:ln w="0">
            <a:noFill/>
          </a:ln>
        </p:spPr>
        <p:txBody>
          <a:bodyPr lIns="0" tIns="19050" rIns="0" bIns="19050" anchor="t"/>
          <a:lstStyle/>
          <a:p>
            <a:pPr algn="l">
              <a:lnSpc>
                <a:spcPct val="122000"/>
              </a:lnSpc>
              <a:buNone/>
              <a:defRPr sz="1050" b="0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音效结束后关闭输出，避免长鸣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656A5EB-4DB4-4105-BF40-25FADF924CB6}"/>
              </a:ext>
            </a:extLst>
          </p:cNvPr>
          <p:cNvSpPr>
            <a:spLocks noGrp="1"/>
          </p:cNvSpPr>
          <p:nvPr/>
        </p:nvSpPr>
        <p:spPr>
          <a:xfrm>
            <a:off x="5162550" y="4305300"/>
            <a:ext cx="5334000" cy="1600200"/>
          </a:xfrm>
          <a:prstGeom prst="roundRect">
            <a:avLst>
              <a:gd name="adj" fmla="val 4762"/>
            </a:avLst>
          </a:prstGeom>
          <a:solidFill>
            <a:srgbClr val="0E1930"/>
          </a:solidFill>
          <a:ln w="9525">
            <a:solidFill>
              <a:srgbClr val="DFE7F4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386BF7A-358A-4314-AC76-A9695AE5720C}"/>
              </a:ext>
            </a:extLst>
          </p:cNvPr>
          <p:cNvSpPr>
            <a:spLocks noGrp="1"/>
          </p:cNvSpPr>
          <p:nvPr/>
        </p:nvSpPr>
        <p:spPr>
          <a:xfrm>
            <a:off x="5410200" y="445770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l">
              <a:lnSpc>
                <a:spcPct val="118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典型事件映射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0C204AC-EF9C-4FD0-A719-60D7E2FDC785}"/>
              </a:ext>
            </a:extLst>
          </p:cNvPr>
          <p:cNvSpPr>
            <a:spLocks noGrp="1"/>
          </p:cNvSpPr>
          <p:nvPr/>
        </p:nvSpPr>
        <p:spPr>
          <a:xfrm>
            <a:off x="5448300" y="4876800"/>
            <a:ext cx="685800" cy="285750"/>
          </a:xfrm>
          <a:prstGeom prst="roundRect">
            <a:avLst>
              <a:gd name="adj" fmla="val 26667"/>
            </a:avLst>
          </a:prstGeom>
          <a:solidFill>
            <a:srgbClr val="19A658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6194B34-45DB-44E7-836D-B27BE1343FAA}"/>
              </a:ext>
            </a:extLst>
          </p:cNvPr>
          <p:cNvSpPr>
            <a:spLocks noGrp="1"/>
          </p:cNvSpPr>
          <p:nvPr/>
        </p:nvSpPr>
        <p:spPr>
          <a:xfrm>
            <a:off x="5429250" y="4895850"/>
            <a:ext cx="685800" cy="247650"/>
          </a:xfrm>
          <a:prstGeom prst="rect">
            <a:avLst/>
          </a:prstGeom>
          <a:noFill/>
          <a:ln w="0">
            <a:noFill/>
          </a:ln>
        </p:spPr>
        <p:txBody>
          <a:bodyPr lIns="76200" tIns="0" rIns="76200" bIns="0" anchor="ctr"/>
          <a:lstStyle/>
          <a:p>
            <a:pPr algn="ctr">
              <a:lnSpc>
                <a:spcPct val="118000"/>
              </a:lnSpc>
              <a:buNone/>
              <a:defRPr sz="9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得分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E04C393-9F3B-4F03-9185-D922FA657354}"/>
              </a:ext>
            </a:extLst>
          </p:cNvPr>
          <p:cNvSpPr>
            <a:spLocks noGrp="1"/>
          </p:cNvSpPr>
          <p:nvPr/>
        </p:nvSpPr>
        <p:spPr>
          <a:xfrm>
            <a:off x="6229350" y="4914900"/>
            <a:ext cx="1295400" cy="2095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l">
              <a:lnSpc>
                <a:spcPct val="118000"/>
              </a:lnSpc>
              <a:buNone/>
              <a:defRPr sz="975" b="0" i="0">
                <a:solidFill>
                  <a:srgbClr val="D7E4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D7E4FF"/>
                </a:solidFill>
                <a:latin typeface="Microsoft YaHei"/>
                <a:ea typeface="Microsoft YaHei"/>
                <a:cs typeface="Microsoft YaHei"/>
              </a:rPr>
              <a:t>短促提示音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B021987-FA5A-449A-8EB1-436A004E07F3}"/>
              </a:ext>
            </a:extLst>
          </p:cNvPr>
          <p:cNvSpPr>
            <a:spLocks noGrp="1"/>
          </p:cNvSpPr>
          <p:nvPr/>
        </p:nvSpPr>
        <p:spPr>
          <a:xfrm>
            <a:off x="7829550" y="4876800"/>
            <a:ext cx="685800" cy="285750"/>
          </a:xfrm>
          <a:prstGeom prst="roundRect">
            <a:avLst>
              <a:gd name="adj" fmla="val 26667"/>
            </a:avLst>
          </a:prstGeom>
          <a:solidFill>
            <a:srgbClr val="3F7BD8"/>
          </a:solidFill>
          <a:ln w="0">
            <a:noFill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A596497-D765-4E8F-961C-484385ACD21B}"/>
              </a:ext>
            </a:extLst>
          </p:cNvPr>
          <p:cNvSpPr>
            <a:spLocks noGrp="1"/>
          </p:cNvSpPr>
          <p:nvPr/>
        </p:nvSpPr>
        <p:spPr>
          <a:xfrm>
            <a:off x="7810500" y="4895850"/>
            <a:ext cx="685800" cy="247650"/>
          </a:xfrm>
          <a:prstGeom prst="rect">
            <a:avLst/>
          </a:prstGeom>
          <a:noFill/>
          <a:ln w="0">
            <a:noFill/>
          </a:ln>
        </p:spPr>
        <p:txBody>
          <a:bodyPr lIns="76200" tIns="0" rIns="76200" bIns="0" anchor="ctr"/>
          <a:lstStyle/>
          <a:p>
            <a:pPr algn="ctr">
              <a:lnSpc>
                <a:spcPct val="118000"/>
              </a:lnSpc>
              <a:buNone/>
              <a:defRPr sz="9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碰撞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07F5638-CA21-43B0-8633-0DC4AC311984}"/>
              </a:ext>
            </a:extLst>
          </p:cNvPr>
          <p:cNvSpPr>
            <a:spLocks noGrp="1"/>
          </p:cNvSpPr>
          <p:nvPr/>
        </p:nvSpPr>
        <p:spPr>
          <a:xfrm>
            <a:off x="8610600" y="4914900"/>
            <a:ext cx="1295400" cy="2095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l">
              <a:lnSpc>
                <a:spcPct val="118000"/>
              </a:lnSpc>
              <a:buNone/>
              <a:defRPr sz="975" b="0" i="0">
                <a:solidFill>
                  <a:srgbClr val="D7E4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D7E4FF"/>
                </a:solidFill>
                <a:latin typeface="Microsoft YaHei"/>
                <a:ea typeface="Microsoft YaHei"/>
                <a:cs typeface="Microsoft YaHei"/>
              </a:rPr>
              <a:t>低频警示音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BE53FE5-78F6-41CF-8B2E-1EC0994B6139}"/>
              </a:ext>
            </a:extLst>
          </p:cNvPr>
          <p:cNvSpPr>
            <a:spLocks noGrp="1"/>
          </p:cNvSpPr>
          <p:nvPr/>
        </p:nvSpPr>
        <p:spPr>
          <a:xfrm>
            <a:off x="5429250" y="5334000"/>
            <a:ext cx="685800" cy="285750"/>
          </a:xfrm>
          <a:prstGeom prst="roundRect">
            <a:avLst>
              <a:gd name="adj" fmla="val 26667"/>
            </a:avLst>
          </a:prstGeom>
          <a:solidFill>
            <a:srgbClr val="3F7BD8"/>
          </a:solidFill>
          <a:ln w="0">
            <a:noFill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2756C31-72B1-48E3-B5B1-69C6D94C7850}"/>
              </a:ext>
            </a:extLst>
          </p:cNvPr>
          <p:cNvSpPr>
            <a:spLocks noGrp="1"/>
          </p:cNvSpPr>
          <p:nvPr/>
        </p:nvSpPr>
        <p:spPr>
          <a:xfrm>
            <a:off x="5448300" y="5353050"/>
            <a:ext cx="685800" cy="247650"/>
          </a:xfrm>
          <a:prstGeom prst="rect">
            <a:avLst/>
          </a:prstGeom>
          <a:noFill/>
          <a:ln w="0">
            <a:noFill/>
          </a:ln>
        </p:spPr>
        <p:txBody>
          <a:bodyPr lIns="76200" tIns="0" rIns="76200" bIns="0" anchor="ctr"/>
          <a:lstStyle/>
          <a:p>
            <a:pPr algn="ctr">
              <a:lnSpc>
                <a:spcPct val="118000"/>
              </a:lnSpc>
              <a:buNone/>
              <a:defRPr sz="9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游戏结束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45EE8C0-313A-46DB-9307-96C8D611F0D1}"/>
              </a:ext>
            </a:extLst>
          </p:cNvPr>
          <p:cNvSpPr>
            <a:spLocks noGrp="1"/>
          </p:cNvSpPr>
          <p:nvPr/>
        </p:nvSpPr>
        <p:spPr>
          <a:xfrm>
            <a:off x="6229350" y="5372100"/>
            <a:ext cx="1295400" cy="2095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l">
              <a:lnSpc>
                <a:spcPct val="118000"/>
              </a:lnSpc>
              <a:buNone/>
              <a:defRPr sz="975" b="0" i="0">
                <a:solidFill>
                  <a:srgbClr val="D7E4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D7E4FF"/>
                </a:solidFill>
                <a:latin typeface="Microsoft YaHei"/>
                <a:ea typeface="Microsoft YaHei"/>
                <a:cs typeface="Microsoft YaHei"/>
              </a:rPr>
              <a:t>连续结束音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959086CD-06D0-4127-9544-0FCF42194B03}"/>
              </a:ext>
            </a:extLst>
          </p:cNvPr>
          <p:cNvSpPr>
            <a:spLocks noGrp="1"/>
          </p:cNvSpPr>
          <p:nvPr/>
        </p:nvSpPr>
        <p:spPr>
          <a:xfrm>
            <a:off x="7810500" y="5334000"/>
            <a:ext cx="685800" cy="285750"/>
          </a:xfrm>
          <a:prstGeom prst="roundRect">
            <a:avLst>
              <a:gd name="adj" fmla="val 26667"/>
            </a:avLst>
          </a:prstGeom>
          <a:solidFill>
            <a:srgbClr val="3F7BD8"/>
          </a:solidFill>
          <a:ln w="0">
            <a:noFill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BF3D69A-9FA7-45D7-8F54-E0C8944F3469}"/>
              </a:ext>
            </a:extLst>
          </p:cNvPr>
          <p:cNvSpPr>
            <a:spLocks noGrp="1"/>
          </p:cNvSpPr>
          <p:nvPr/>
        </p:nvSpPr>
        <p:spPr>
          <a:xfrm>
            <a:off x="7829550" y="5353050"/>
            <a:ext cx="685800" cy="247650"/>
          </a:xfrm>
          <a:prstGeom prst="rect">
            <a:avLst/>
          </a:prstGeom>
          <a:noFill/>
          <a:ln w="0">
            <a:noFill/>
          </a:ln>
        </p:spPr>
        <p:txBody>
          <a:bodyPr lIns="76200" tIns="0" rIns="76200" bIns="0" anchor="ctr"/>
          <a:lstStyle/>
          <a:p>
            <a:pPr algn="ctr">
              <a:lnSpc>
                <a:spcPct val="118000"/>
              </a:lnSpc>
              <a:buNone/>
              <a:defRPr sz="9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复活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6775D46-0B4E-49E6-9197-48765E14EB02}"/>
              </a:ext>
            </a:extLst>
          </p:cNvPr>
          <p:cNvSpPr>
            <a:spLocks noGrp="1"/>
          </p:cNvSpPr>
          <p:nvPr/>
        </p:nvSpPr>
        <p:spPr>
          <a:xfrm>
            <a:off x="8610600" y="5372100"/>
            <a:ext cx="1295400" cy="2095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l">
              <a:lnSpc>
                <a:spcPct val="118000"/>
              </a:lnSpc>
              <a:buNone/>
              <a:defRPr sz="975" b="0" i="0">
                <a:solidFill>
                  <a:srgbClr val="D7E4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D7E4FF"/>
                </a:solidFill>
                <a:latin typeface="Microsoft YaHei"/>
                <a:ea typeface="Microsoft YaHei"/>
                <a:cs typeface="Microsoft YaHei"/>
              </a:rPr>
              <a:t>确认提示音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280E44D-E870-4E50-B4B5-0EB38AF154EF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9982200" cy="9525"/>
          </a:xfrm>
          <a:prstGeom prst="rect">
            <a:avLst/>
          </a:prstGeom>
          <a:solidFill>
            <a:srgbClr val="D9E2F3"/>
          </a:solidFill>
          <a:ln w="0">
            <a:noFill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295CD2D-6D06-4A56-B48C-D2B0EDE3F4D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750" b="0" i="0">
                <a:solidFill>
                  <a:srgbClr val="7890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890AD"/>
                </a:solidFill>
                <a:latin typeface="Microsoft YaHei"/>
                <a:ea typeface="Microsoft YaHei"/>
                <a:cs typeface="Microsoft YaHei"/>
              </a:rPr>
              <a:t>ESP32智能游戏竞技台 | OpenHarmony + MQTT + 外设联动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007046F-ABAD-4D95-B838-F9077B569876}"/>
              </a:ext>
            </a:extLst>
          </p:cNvPr>
          <p:cNvSpPr>
            <a:spLocks noGrp="1"/>
          </p:cNvSpPr>
          <p:nvPr/>
        </p:nvSpPr>
        <p:spPr>
          <a:xfrm>
            <a:off x="10820400" y="6343650"/>
            <a:ext cx="666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r">
              <a:lnSpc>
                <a:spcPct val="118000"/>
              </a:lnSpc>
              <a:buNone/>
              <a:defRPr sz="13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39675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kicker-label">
            <a:extLst>
              <a:ext uri="{FF2B5EF4-FFF2-40B4-BE49-F238E27FC236}">
                <a16:creationId xmlns:a16="http://schemas.microsoft.com/office/drawing/2014/main" id="{AEB1575D-BE9F-41B0-A723-D5318060E296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19050" rIns="0" bIns="19050" anchor="ctr"/>
          <a:lstStyle/>
          <a:p>
            <a:pPr algn="l">
              <a:lnSpc>
                <a:spcPct val="118000"/>
              </a:lnSpc>
              <a:buNone/>
              <a:defRPr sz="10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AD KEY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F6EA651-21EC-463A-90C4-304B9B539654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419100" cy="38100"/>
          </a:xfrm>
          <a:prstGeom prst="rect">
            <a:avLst/>
          </a:prstGeom>
          <a:solidFill>
            <a:srgbClr val="3F7BD8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BC21611-AAB2-4D8F-8F7D-6DBFBD4A0E8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2870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AD 五路按键用一路 ADC 完成五个操作输入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4AF51ED-AD99-417A-BE30-81962FE736D4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9144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20000"/>
              </a:lnSpc>
              <a:buNone/>
              <a:defRPr sz="12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不同按键对应不同分压值，ESP32 读取模拟值后按阈值区间判断按键。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t="20734" b="20734"/>
          <a:stretch>
            <a:fillRect/>
          </a:stretch>
        </p:blipFill>
        <p:spPr>
          <a:xfrm>
            <a:off x="914400" y="1695450"/>
            <a:ext cx="3143250" cy="4305300"/>
          </a:xfrm>
          <a:prstGeom prst="roundRect">
            <a:avLst>
              <a:gd name="adj" fmla="val 2424"/>
            </a:avLst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7FD03FE7-4354-42A6-B801-D06DB555CD4B}"/>
              </a:ext>
            </a:extLst>
          </p:cNvPr>
          <p:cNvSpPr>
            <a:spLocks noGrp="1"/>
          </p:cNvSpPr>
          <p:nvPr/>
        </p:nvSpPr>
        <p:spPr>
          <a:xfrm>
            <a:off x="6019800" y="2152650"/>
            <a:ext cx="10096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3F7BD8"/>
            </a:solidFill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EF0DDC5-35F7-4E04-9091-90C4DC404B0A}"/>
              </a:ext>
            </a:extLst>
          </p:cNvPr>
          <p:cNvSpPr>
            <a:spLocks noGrp="1"/>
          </p:cNvSpPr>
          <p:nvPr/>
        </p:nvSpPr>
        <p:spPr>
          <a:xfrm>
            <a:off x="6019800" y="2276475"/>
            <a:ext cx="100965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3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UP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10E2569-BF9A-4176-AAE8-C7F2063ED20C}"/>
              </a:ext>
            </a:extLst>
          </p:cNvPr>
          <p:cNvSpPr>
            <a:spLocks noGrp="1"/>
          </p:cNvSpPr>
          <p:nvPr/>
        </p:nvSpPr>
        <p:spPr>
          <a:xfrm>
            <a:off x="4876800" y="2990850"/>
            <a:ext cx="10096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3F7BD8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2513152-E38C-4607-B983-465326F283D4}"/>
              </a:ext>
            </a:extLst>
          </p:cNvPr>
          <p:cNvSpPr>
            <a:spLocks noGrp="1"/>
          </p:cNvSpPr>
          <p:nvPr/>
        </p:nvSpPr>
        <p:spPr>
          <a:xfrm>
            <a:off x="4876800" y="3114675"/>
            <a:ext cx="100965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3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LEFT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E32E2B1-1ED7-4136-9982-197CD35295B1}"/>
              </a:ext>
            </a:extLst>
          </p:cNvPr>
          <p:cNvSpPr>
            <a:spLocks noGrp="1"/>
          </p:cNvSpPr>
          <p:nvPr/>
        </p:nvSpPr>
        <p:spPr>
          <a:xfrm>
            <a:off x="6019800" y="2990850"/>
            <a:ext cx="1009650" cy="552450"/>
          </a:xfrm>
          <a:prstGeom prst="roundRect">
            <a:avLst>
              <a:gd name="adj" fmla="val 13793"/>
            </a:avLst>
          </a:prstGeom>
          <a:solidFill>
            <a:srgbClr val="19A658"/>
          </a:solidFill>
          <a:ln w="19050">
            <a:solidFill>
              <a:srgbClr val="3F7BD8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0C7D04E-E033-40AE-A41B-5C8FD30B5B90}"/>
              </a:ext>
            </a:extLst>
          </p:cNvPr>
          <p:cNvSpPr>
            <a:spLocks noGrp="1"/>
          </p:cNvSpPr>
          <p:nvPr/>
        </p:nvSpPr>
        <p:spPr>
          <a:xfrm>
            <a:off x="6019800" y="3114675"/>
            <a:ext cx="100965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OK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1526EDF-3100-4907-A390-02007C20677F}"/>
              </a:ext>
            </a:extLst>
          </p:cNvPr>
          <p:cNvSpPr>
            <a:spLocks noGrp="1"/>
          </p:cNvSpPr>
          <p:nvPr/>
        </p:nvSpPr>
        <p:spPr>
          <a:xfrm>
            <a:off x="7162800" y="2990850"/>
            <a:ext cx="10096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3F7BD8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7AA8947-0E38-4DF2-BF2D-C84FE88FF3CA}"/>
              </a:ext>
            </a:extLst>
          </p:cNvPr>
          <p:cNvSpPr>
            <a:spLocks noGrp="1"/>
          </p:cNvSpPr>
          <p:nvPr/>
        </p:nvSpPr>
        <p:spPr>
          <a:xfrm>
            <a:off x="7162800" y="3114675"/>
            <a:ext cx="100965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3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RIGHT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BC01F41-27C8-4D57-9F4E-64B5B27FF6F8}"/>
              </a:ext>
            </a:extLst>
          </p:cNvPr>
          <p:cNvSpPr>
            <a:spLocks noGrp="1"/>
          </p:cNvSpPr>
          <p:nvPr/>
        </p:nvSpPr>
        <p:spPr>
          <a:xfrm>
            <a:off x="6019800" y="3829050"/>
            <a:ext cx="10096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3F7BD8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87417E-00CA-43DE-B593-D417B0D4FFDF}"/>
              </a:ext>
            </a:extLst>
          </p:cNvPr>
          <p:cNvSpPr>
            <a:spLocks noGrp="1"/>
          </p:cNvSpPr>
          <p:nvPr/>
        </p:nvSpPr>
        <p:spPr>
          <a:xfrm>
            <a:off x="6019800" y="3952875"/>
            <a:ext cx="100965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3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DOWN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8327836-132A-4F2B-A1D3-2E0650B6AFBD}"/>
              </a:ext>
            </a:extLst>
          </p:cNvPr>
          <p:cNvSpPr>
            <a:spLocks noGrp="1"/>
          </p:cNvSpPr>
          <p:nvPr/>
        </p:nvSpPr>
        <p:spPr>
          <a:xfrm>
            <a:off x="8362950" y="2247900"/>
            <a:ext cx="2476500" cy="19431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DFE7F4"/>
            </a:solidFill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1E1CB4E-2698-45C8-9F39-1907613C6F4E}"/>
              </a:ext>
            </a:extLst>
          </p:cNvPr>
          <p:cNvSpPr>
            <a:spLocks noGrp="1"/>
          </p:cNvSpPr>
          <p:nvPr/>
        </p:nvSpPr>
        <p:spPr>
          <a:xfrm>
            <a:off x="8610600" y="2457450"/>
            <a:ext cx="190500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l">
              <a:lnSpc>
                <a:spcPct val="118000"/>
              </a:lnSpc>
              <a:buNone/>
              <a:defRPr sz="15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ADC 判定逻辑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E5C1F3DD-6918-40D3-828D-6BE96B781448}"/>
              </a:ext>
            </a:extLst>
          </p:cNvPr>
          <p:cNvSpPr>
            <a:spLocks noGrp="1"/>
          </p:cNvSpPr>
          <p:nvPr/>
        </p:nvSpPr>
        <p:spPr>
          <a:xfrm>
            <a:off x="8648700" y="3009900"/>
            <a:ext cx="95250" cy="95250"/>
          </a:xfrm>
          <a:prstGeom prst="ellipse">
            <a:avLst/>
          </a:prstGeom>
          <a:solidFill>
            <a:srgbClr val="19A658"/>
          </a:solidFill>
          <a:ln w="0"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40FFF6A-87D4-4773-8A43-705CA14FBCB7}"/>
              </a:ext>
            </a:extLst>
          </p:cNvPr>
          <p:cNvSpPr>
            <a:spLocks noGrp="1"/>
          </p:cNvSpPr>
          <p:nvPr/>
        </p:nvSpPr>
        <p:spPr>
          <a:xfrm>
            <a:off x="8877300" y="2933700"/>
            <a:ext cx="1771650" cy="266700"/>
          </a:xfrm>
          <a:prstGeom prst="rect">
            <a:avLst/>
          </a:prstGeom>
          <a:noFill/>
          <a:ln w="0">
            <a:noFill/>
          </a:ln>
        </p:spPr>
        <p:txBody>
          <a:bodyPr lIns="0" tIns="19050" rIns="0" bIns="19050" anchor="t"/>
          <a:lstStyle/>
          <a:p>
            <a:pPr algn="l">
              <a:lnSpc>
                <a:spcPct val="122000"/>
              </a:lnSpc>
              <a:buNone/>
              <a:defRPr sz="975" b="0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读取 raw = analogRead(pin)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1B0F096-86E7-4165-8937-D655EC414877}"/>
              </a:ext>
            </a:extLst>
          </p:cNvPr>
          <p:cNvSpPr>
            <a:spLocks noGrp="1"/>
          </p:cNvSpPr>
          <p:nvPr/>
        </p:nvSpPr>
        <p:spPr>
          <a:xfrm>
            <a:off x="8648700" y="3314700"/>
            <a:ext cx="95250" cy="95250"/>
          </a:xfrm>
          <a:prstGeom prst="ellipse">
            <a:avLst/>
          </a:prstGeom>
          <a:solidFill>
            <a:srgbClr val="19A658"/>
          </a:solidFill>
          <a:ln w="0">
            <a:noFill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E697548-2B9F-4E5E-8FD1-D8CC97C40184}"/>
              </a:ext>
            </a:extLst>
          </p:cNvPr>
          <p:cNvSpPr>
            <a:spLocks noGrp="1"/>
          </p:cNvSpPr>
          <p:nvPr/>
        </p:nvSpPr>
        <p:spPr>
          <a:xfrm>
            <a:off x="8877300" y="3238500"/>
            <a:ext cx="1771650" cy="266700"/>
          </a:xfrm>
          <a:prstGeom prst="rect">
            <a:avLst/>
          </a:prstGeom>
          <a:noFill/>
          <a:ln w="0">
            <a:noFill/>
          </a:ln>
        </p:spPr>
        <p:txBody>
          <a:bodyPr lIns="0" tIns="19050" rIns="0" bIns="19050" anchor="t"/>
          <a:lstStyle/>
          <a:p>
            <a:pPr algn="l">
              <a:lnSpc>
                <a:spcPct val="122000"/>
              </a:lnSpc>
              <a:buNone/>
              <a:defRPr sz="975" b="0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按阈值区间映射为 1-5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06FB2767-8851-4F96-A095-F474AEEE3DAC}"/>
              </a:ext>
            </a:extLst>
          </p:cNvPr>
          <p:cNvSpPr>
            <a:spLocks noGrp="1"/>
          </p:cNvSpPr>
          <p:nvPr/>
        </p:nvSpPr>
        <p:spPr>
          <a:xfrm>
            <a:off x="8648700" y="3619500"/>
            <a:ext cx="95250" cy="95250"/>
          </a:xfrm>
          <a:prstGeom prst="ellipse">
            <a:avLst/>
          </a:prstGeom>
          <a:solidFill>
            <a:srgbClr val="19A658"/>
          </a:solidFill>
          <a:ln w="0">
            <a:noFill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42DB0F3-8F71-4533-8843-67D9283B3BE5}"/>
              </a:ext>
            </a:extLst>
          </p:cNvPr>
          <p:cNvSpPr>
            <a:spLocks noGrp="1"/>
          </p:cNvSpPr>
          <p:nvPr/>
        </p:nvSpPr>
        <p:spPr>
          <a:xfrm>
            <a:off x="8877300" y="3543300"/>
            <a:ext cx="1771650" cy="266700"/>
          </a:xfrm>
          <a:prstGeom prst="rect">
            <a:avLst/>
          </a:prstGeom>
          <a:noFill/>
          <a:ln w="0">
            <a:noFill/>
          </a:ln>
        </p:spPr>
        <p:txBody>
          <a:bodyPr lIns="0" tIns="19050" rIns="0" bIns="19050" anchor="t"/>
          <a:lstStyle/>
          <a:p>
            <a:pPr algn="l">
              <a:lnSpc>
                <a:spcPct val="122000"/>
              </a:lnSpc>
              <a:buNone/>
              <a:defRPr sz="975" b="0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未按下返回 0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C49F04F0-5002-40FF-90CD-1956D056783C}"/>
              </a:ext>
            </a:extLst>
          </p:cNvPr>
          <p:cNvSpPr>
            <a:spLocks noGrp="1"/>
          </p:cNvSpPr>
          <p:nvPr/>
        </p:nvSpPr>
        <p:spPr>
          <a:xfrm>
            <a:off x="8648700" y="3924300"/>
            <a:ext cx="95250" cy="95250"/>
          </a:xfrm>
          <a:prstGeom prst="ellipse">
            <a:avLst/>
          </a:prstGeom>
          <a:solidFill>
            <a:srgbClr val="19A658"/>
          </a:solidFill>
          <a:ln w="0">
            <a:noFill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1904C02-EEF3-4428-B303-89B35BE5614E}"/>
              </a:ext>
            </a:extLst>
          </p:cNvPr>
          <p:cNvSpPr>
            <a:spLocks noGrp="1"/>
          </p:cNvSpPr>
          <p:nvPr/>
        </p:nvSpPr>
        <p:spPr>
          <a:xfrm>
            <a:off x="8877300" y="3848100"/>
            <a:ext cx="1771650" cy="266700"/>
          </a:xfrm>
          <a:prstGeom prst="rect">
            <a:avLst/>
          </a:prstGeom>
          <a:noFill/>
          <a:ln w="0">
            <a:noFill/>
          </a:ln>
        </p:spPr>
        <p:txBody>
          <a:bodyPr lIns="0" tIns="19050" rIns="0" bIns="19050" anchor="t"/>
          <a:lstStyle/>
          <a:p>
            <a:pPr algn="l">
              <a:lnSpc>
                <a:spcPct val="122000"/>
              </a:lnSpc>
              <a:buNone/>
              <a:defRPr sz="975" b="0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减少 GPIO 占用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EB9CE3F-C012-47C9-9C5A-B06B46306FC3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9982200" cy="9525"/>
          </a:xfrm>
          <a:prstGeom prst="rect">
            <a:avLst/>
          </a:prstGeom>
          <a:solidFill>
            <a:srgbClr val="D9E2F3"/>
          </a:solidFill>
          <a:ln w="0">
            <a:noFill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4E8D0D6-773E-4418-8658-6AB4B99EAD3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750" b="0" i="0">
                <a:solidFill>
                  <a:srgbClr val="7890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890AD"/>
                </a:solidFill>
                <a:latin typeface="Microsoft YaHei"/>
                <a:ea typeface="Microsoft YaHei"/>
                <a:cs typeface="Microsoft YaHei"/>
              </a:rPr>
              <a:t>ESP32智能游戏竞技台 | OpenHarmony + MQTT + 外设联动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42B9E39-51A5-43D0-ABE9-9D4E115CACCF}"/>
              </a:ext>
            </a:extLst>
          </p:cNvPr>
          <p:cNvSpPr>
            <a:spLocks noGrp="1"/>
          </p:cNvSpPr>
          <p:nvPr/>
        </p:nvSpPr>
        <p:spPr>
          <a:xfrm>
            <a:off x="10820400" y="6343650"/>
            <a:ext cx="666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r">
              <a:lnSpc>
                <a:spcPct val="118000"/>
              </a:lnSpc>
              <a:buNone/>
              <a:defRPr sz="13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01022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kicker-label">
            <a:extLst>
              <a:ext uri="{FF2B5EF4-FFF2-40B4-BE49-F238E27FC236}">
                <a16:creationId xmlns:a16="http://schemas.microsoft.com/office/drawing/2014/main" id="{EB0A3B1B-95C2-4002-9056-0D6CD5E2C3B9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19050" rIns="0" bIns="19050" anchor="ctr"/>
          <a:lstStyle/>
          <a:p>
            <a:pPr algn="l">
              <a:lnSpc>
                <a:spcPct val="118000"/>
              </a:lnSpc>
              <a:buNone/>
              <a:defRPr sz="10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DIGITAL TUBE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A3E961B-226F-48CC-BD0E-FFE9B5D1A621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419100" cy="38100"/>
          </a:xfrm>
          <a:prstGeom prst="rect">
            <a:avLst/>
          </a:prstGeom>
          <a:solidFill>
            <a:srgbClr val="3F7BD8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D2B3E0C-0D25-4E37-B87A-977B3F687256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2870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四位数码管让游戏分数脱离 APP 也能实时可见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216B21A-3376-4507-B921-F6801902765D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9144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20000"/>
              </a:lnSpc>
              <a:buNone/>
              <a:defRPr sz="12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通过 DIO/CLK 两线向 TM1637 类显示模块发送段码和位选数据。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32390" y="1790700"/>
            <a:ext cx="4640919" cy="3429000"/>
          </a:xfrm>
          <a:prstGeom prst="roundRect">
            <a:avLst>
              <a:gd name="adj" fmla="val 2222"/>
            </a:avLst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A5C79AAC-E791-4B6D-8A93-88C4B21A030B}"/>
              </a:ext>
            </a:extLst>
          </p:cNvPr>
          <p:cNvSpPr>
            <a:spLocks noGrp="1"/>
          </p:cNvSpPr>
          <p:nvPr/>
        </p:nvSpPr>
        <p:spPr>
          <a:xfrm>
            <a:off x="7334250" y="1962150"/>
            <a:ext cx="609600" cy="495300"/>
          </a:xfrm>
          <a:prstGeom prst="ellipse">
            <a:avLst/>
          </a:prstGeom>
          <a:solidFill>
            <a:srgbClr val="3F7BD8"/>
          </a:solidFill>
          <a:ln w="0"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C04D089-B4C1-4A9E-8521-F8F03288AF04}"/>
              </a:ext>
            </a:extLst>
          </p:cNvPr>
          <p:cNvSpPr>
            <a:spLocks noGrp="1"/>
          </p:cNvSpPr>
          <p:nvPr/>
        </p:nvSpPr>
        <p:spPr>
          <a:xfrm>
            <a:off x="7334250" y="2047875"/>
            <a:ext cx="609600" cy="3238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F8BE767-B147-4A84-8BDA-62C77F7E973C}"/>
              </a:ext>
            </a:extLst>
          </p:cNvPr>
          <p:cNvSpPr>
            <a:spLocks noGrp="1"/>
          </p:cNvSpPr>
          <p:nvPr/>
        </p:nvSpPr>
        <p:spPr>
          <a:xfrm>
            <a:off x="8172450" y="1981200"/>
            <a:ext cx="1714500" cy="2476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l">
              <a:lnSpc>
                <a:spcPct val="118000"/>
              </a:lnSpc>
              <a:buNone/>
              <a:defRPr sz="13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初始化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6E6D7F-F578-4EE9-9D9C-0C6D6494BEF1}"/>
              </a:ext>
            </a:extLst>
          </p:cNvPr>
          <p:cNvSpPr>
            <a:spLocks noGrp="1"/>
          </p:cNvSpPr>
          <p:nvPr/>
        </p:nvSpPr>
        <p:spPr>
          <a:xfrm>
            <a:off x="8172450" y="228600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l">
              <a:lnSpc>
                <a:spcPct val="118000"/>
              </a:lnSpc>
              <a:buNone/>
              <a:def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配置 DIO/CLK 引脚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9B5CB6B-6EE6-42B7-8C39-B549531053AD}"/>
              </a:ext>
            </a:extLst>
          </p:cNvPr>
          <p:cNvSpPr>
            <a:spLocks noGrp="1"/>
          </p:cNvSpPr>
          <p:nvPr/>
        </p:nvSpPr>
        <p:spPr>
          <a:xfrm>
            <a:off x="7629525" y="2457450"/>
            <a:ext cx="19050" cy="342900"/>
          </a:xfrm>
          <a:prstGeom prst="rect">
            <a:avLst/>
          </a:prstGeom>
          <a:solidFill>
            <a:srgbClr val="C8D5EA"/>
          </a:solidFill>
          <a:ln w="0">
            <a:noFill/>
          </a:ln>
        </p:spPr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1EB673E-092F-4856-B6CE-7DA9B98C26FD}"/>
              </a:ext>
            </a:extLst>
          </p:cNvPr>
          <p:cNvSpPr>
            <a:spLocks noGrp="1"/>
          </p:cNvSpPr>
          <p:nvPr/>
        </p:nvSpPr>
        <p:spPr>
          <a:xfrm>
            <a:off x="7334250" y="2800350"/>
            <a:ext cx="609600" cy="495300"/>
          </a:xfrm>
          <a:prstGeom prst="ellipse">
            <a:avLst/>
          </a:prstGeom>
          <a:solidFill>
            <a:srgbClr val="3F7BD8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6538376-B087-48B2-BAEE-722877ADBDD5}"/>
              </a:ext>
            </a:extLst>
          </p:cNvPr>
          <p:cNvSpPr>
            <a:spLocks noGrp="1"/>
          </p:cNvSpPr>
          <p:nvPr/>
        </p:nvSpPr>
        <p:spPr>
          <a:xfrm>
            <a:off x="7334250" y="2886075"/>
            <a:ext cx="609600" cy="3238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563510-2673-4714-8A0C-04702C324674}"/>
              </a:ext>
            </a:extLst>
          </p:cNvPr>
          <p:cNvSpPr>
            <a:spLocks noGrp="1"/>
          </p:cNvSpPr>
          <p:nvPr/>
        </p:nvSpPr>
        <p:spPr>
          <a:xfrm>
            <a:off x="8172450" y="2819400"/>
            <a:ext cx="1714500" cy="2476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l">
              <a:lnSpc>
                <a:spcPct val="118000"/>
              </a:lnSpc>
              <a:buNone/>
              <a:defRPr sz="13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编码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70FF0F0-6FAD-4F91-B8C2-647D702A5BB7}"/>
              </a:ext>
            </a:extLst>
          </p:cNvPr>
          <p:cNvSpPr>
            <a:spLocks noGrp="1"/>
          </p:cNvSpPr>
          <p:nvPr/>
        </p:nvSpPr>
        <p:spPr>
          <a:xfrm>
            <a:off x="8172450" y="312420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l">
              <a:lnSpc>
                <a:spcPct val="118000"/>
              </a:lnSpc>
              <a:buNone/>
              <a:def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把分数转为七段段码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B3E77DE-6A8D-4BF4-AF2F-AB373805FFCD}"/>
              </a:ext>
            </a:extLst>
          </p:cNvPr>
          <p:cNvSpPr>
            <a:spLocks noGrp="1"/>
          </p:cNvSpPr>
          <p:nvPr/>
        </p:nvSpPr>
        <p:spPr>
          <a:xfrm>
            <a:off x="7629525" y="3295650"/>
            <a:ext cx="19050" cy="342900"/>
          </a:xfrm>
          <a:prstGeom prst="rect">
            <a:avLst/>
          </a:prstGeom>
          <a:solidFill>
            <a:srgbClr val="C8D5EA"/>
          </a:solidFill>
          <a:ln w="0">
            <a:noFill/>
          </a:ln>
        </p:spPr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A83DD80-3C1D-4B20-9DAD-09914317619F}"/>
              </a:ext>
            </a:extLst>
          </p:cNvPr>
          <p:cNvSpPr>
            <a:spLocks noGrp="1"/>
          </p:cNvSpPr>
          <p:nvPr/>
        </p:nvSpPr>
        <p:spPr>
          <a:xfrm>
            <a:off x="7334250" y="3638550"/>
            <a:ext cx="609600" cy="495300"/>
          </a:xfrm>
          <a:prstGeom prst="ellipse">
            <a:avLst/>
          </a:prstGeom>
          <a:solidFill>
            <a:srgbClr val="F05A16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0A30967-D100-45B5-9505-23DBE333F6BA}"/>
              </a:ext>
            </a:extLst>
          </p:cNvPr>
          <p:cNvSpPr>
            <a:spLocks noGrp="1"/>
          </p:cNvSpPr>
          <p:nvPr/>
        </p:nvSpPr>
        <p:spPr>
          <a:xfrm>
            <a:off x="7334250" y="3724275"/>
            <a:ext cx="609600" cy="3238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3D6C49E-DA14-42D4-9BE2-786A224B7381}"/>
              </a:ext>
            </a:extLst>
          </p:cNvPr>
          <p:cNvSpPr>
            <a:spLocks noGrp="1"/>
          </p:cNvSpPr>
          <p:nvPr/>
        </p:nvSpPr>
        <p:spPr>
          <a:xfrm>
            <a:off x="8172450" y="3657600"/>
            <a:ext cx="1714500" cy="2476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l">
              <a:lnSpc>
                <a:spcPct val="118000"/>
              </a:lnSpc>
              <a:buNone/>
              <a:defRPr sz="13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发送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144FEAD-82BD-4F4B-8D2B-35D549AC3ADD}"/>
              </a:ext>
            </a:extLst>
          </p:cNvPr>
          <p:cNvSpPr>
            <a:spLocks noGrp="1"/>
          </p:cNvSpPr>
          <p:nvPr/>
        </p:nvSpPr>
        <p:spPr>
          <a:xfrm>
            <a:off x="8172450" y="396240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l">
              <a:lnSpc>
                <a:spcPct val="118000"/>
              </a:lnSpc>
              <a:buNone/>
              <a:def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按位写入显示模块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5494BC9-18A2-4322-BE5F-7BD18861F720}"/>
              </a:ext>
            </a:extLst>
          </p:cNvPr>
          <p:cNvSpPr>
            <a:spLocks noGrp="1"/>
          </p:cNvSpPr>
          <p:nvPr/>
        </p:nvSpPr>
        <p:spPr>
          <a:xfrm>
            <a:off x="7629525" y="4133850"/>
            <a:ext cx="19050" cy="342900"/>
          </a:xfrm>
          <a:prstGeom prst="rect">
            <a:avLst/>
          </a:prstGeom>
          <a:solidFill>
            <a:srgbClr val="C8D5EA"/>
          </a:solidFill>
          <a:ln w="0">
            <a:noFill/>
          </a:ln>
        </p:spPr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831B67C9-0C2A-4EE7-8D67-D5F054E7A542}"/>
              </a:ext>
            </a:extLst>
          </p:cNvPr>
          <p:cNvSpPr>
            <a:spLocks noGrp="1"/>
          </p:cNvSpPr>
          <p:nvPr/>
        </p:nvSpPr>
        <p:spPr>
          <a:xfrm>
            <a:off x="7334250" y="4476750"/>
            <a:ext cx="609600" cy="495300"/>
          </a:xfrm>
          <a:prstGeom prst="ellipse">
            <a:avLst/>
          </a:prstGeom>
          <a:solidFill>
            <a:srgbClr val="3F7BD8"/>
          </a:solidFill>
          <a:ln w="0">
            <a:noFill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CF72C9A-B027-4B0C-B364-C87F177CD6BD}"/>
              </a:ext>
            </a:extLst>
          </p:cNvPr>
          <p:cNvSpPr>
            <a:spLocks noGrp="1"/>
          </p:cNvSpPr>
          <p:nvPr/>
        </p:nvSpPr>
        <p:spPr>
          <a:xfrm>
            <a:off x="7334250" y="4562475"/>
            <a:ext cx="609600" cy="3238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047574B-BB17-49D1-A06C-A7224E2CE289}"/>
              </a:ext>
            </a:extLst>
          </p:cNvPr>
          <p:cNvSpPr>
            <a:spLocks noGrp="1"/>
          </p:cNvSpPr>
          <p:nvPr/>
        </p:nvSpPr>
        <p:spPr>
          <a:xfrm>
            <a:off x="8172450" y="4495800"/>
            <a:ext cx="1714500" cy="2476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l">
              <a:lnSpc>
                <a:spcPct val="118000"/>
              </a:lnSpc>
              <a:buNone/>
              <a:defRPr sz="13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刷新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0C7AAE0-B332-4B5D-BE11-9D8F44471497}"/>
              </a:ext>
            </a:extLst>
          </p:cNvPr>
          <p:cNvSpPr>
            <a:spLocks noGrp="1"/>
          </p:cNvSpPr>
          <p:nvPr/>
        </p:nvSpPr>
        <p:spPr>
          <a:xfrm>
            <a:off x="8172450" y="480060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l">
              <a:lnSpc>
                <a:spcPct val="118000"/>
              </a:lnSpc>
              <a:buNone/>
              <a:def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游戏循环中持续更新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D867C49-5EB3-4531-918A-8B68EAAE37DB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9982200" cy="9525"/>
          </a:xfrm>
          <a:prstGeom prst="rect">
            <a:avLst/>
          </a:prstGeom>
          <a:solidFill>
            <a:srgbClr val="D9E2F3"/>
          </a:solidFill>
          <a:ln w="0">
            <a:noFill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F5B9022-9550-4A9E-B9F8-66AEFEEF7930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750" b="0" i="0">
                <a:solidFill>
                  <a:srgbClr val="7890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890AD"/>
                </a:solidFill>
                <a:latin typeface="Microsoft YaHei"/>
                <a:ea typeface="Microsoft YaHei"/>
                <a:cs typeface="Microsoft YaHei"/>
              </a:rPr>
              <a:t>ESP32智能游戏竞技台 | OpenHarmony + MQTT + 外设联动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2258EF3-9F3E-4464-8D70-F6EC60F89C5C}"/>
              </a:ext>
            </a:extLst>
          </p:cNvPr>
          <p:cNvSpPr>
            <a:spLocks noGrp="1"/>
          </p:cNvSpPr>
          <p:nvPr/>
        </p:nvSpPr>
        <p:spPr>
          <a:xfrm>
            <a:off x="10820400" y="6343650"/>
            <a:ext cx="666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r">
              <a:lnSpc>
                <a:spcPct val="118000"/>
              </a:lnSpc>
              <a:buNone/>
              <a:defRPr sz="13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67104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kicker-label">
            <a:extLst>
              <a:ext uri="{FF2B5EF4-FFF2-40B4-BE49-F238E27FC236}">
                <a16:creationId xmlns:a16="http://schemas.microsoft.com/office/drawing/2014/main" id="{E37E07EA-EB3A-4AE8-A90C-2E35EA7F2607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19050" rIns="0" bIns="19050" anchor="ctr"/>
          <a:lstStyle/>
          <a:p>
            <a:pPr algn="l">
              <a:lnSpc>
                <a:spcPct val="118000"/>
              </a:lnSpc>
              <a:buNone/>
              <a:defRPr sz="10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8x8 MATRIX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1F60917-51EC-4E1D-AEF4-73099124AD88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419100" cy="38100"/>
          </a:xfrm>
          <a:prstGeom prst="rect">
            <a:avLst/>
          </a:prstGeom>
          <a:solidFill>
            <a:srgbClr val="3F7BD8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7C3E7B-757C-4AF3-BD08-093AB506C41B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287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2325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8x8 矩阵灯既是游戏画面，也是 APP 远程控制的可视输出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29D0547-7BCA-4D37-A8D2-130A02B5D3A9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9144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20000"/>
              </a:lnSpc>
              <a:buNone/>
              <a:defRPr sz="12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APP 可绘制像素或选择预设图案，通过 MQTT 下发 rows 数据到 ESP32。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65C1A03-423B-43EF-8325-88FB89F3BC59}"/>
              </a:ext>
            </a:extLst>
          </p:cNvPr>
          <p:cNvSpPr>
            <a:spLocks noGrp="1"/>
          </p:cNvSpPr>
          <p:nvPr/>
        </p:nvSpPr>
        <p:spPr>
          <a:xfrm>
            <a:off x="819150" y="1485900"/>
            <a:ext cx="2495550" cy="4876800"/>
          </a:xfrm>
          <a:prstGeom prst="roundRect">
            <a:avLst>
              <a:gd name="adj" fmla="val 9160"/>
            </a:avLst>
          </a:prstGeom>
          <a:solidFill>
            <a:srgbClr val="111827"/>
          </a:solidFill>
          <a:ln w="9525">
            <a:solidFill>
              <a:srgbClr val="B9C4D8"/>
            </a:solidFill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8821" y="1543050"/>
            <a:ext cx="2156209" cy="4762500"/>
          </a:xfrm>
          <a:prstGeom prst="roundRect">
            <a:avLst>
              <a:gd name="adj" fmla="val 8000"/>
            </a:avLst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rcRect l="78" r="78"/>
          <a:stretch>
            <a:fillRect/>
          </a:stretch>
        </p:blipFill>
        <p:spPr>
          <a:xfrm>
            <a:off x="3848100" y="1885950"/>
            <a:ext cx="3905250" cy="2952750"/>
          </a:xfrm>
          <a:prstGeom prst="roundRect">
            <a:avLst>
              <a:gd name="adj" fmla="val 2581"/>
            </a:avLst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13011070-7BBC-4749-AE95-CBFB3AF6F89E}"/>
              </a:ext>
            </a:extLst>
          </p:cNvPr>
          <p:cNvSpPr>
            <a:spLocks noGrp="1"/>
          </p:cNvSpPr>
          <p:nvPr/>
        </p:nvSpPr>
        <p:spPr>
          <a:xfrm>
            <a:off x="8134350" y="2038350"/>
            <a:ext cx="2667000" cy="2381250"/>
          </a:xfrm>
          <a:prstGeom prst="roundRect">
            <a:avLst>
              <a:gd name="adj" fmla="val 3200"/>
            </a:avLst>
          </a:prstGeom>
          <a:solidFill>
            <a:srgbClr val="101B2D"/>
          </a:solidFill>
          <a:ln w="9525">
            <a:solidFill>
              <a:srgbClr val="DFE7F4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07B1CC3-5DC5-4D01-B848-EAD8D02C7ACF}"/>
              </a:ext>
            </a:extLst>
          </p:cNvPr>
          <p:cNvSpPr>
            <a:spLocks noGrp="1"/>
          </p:cNvSpPr>
          <p:nvPr/>
        </p:nvSpPr>
        <p:spPr>
          <a:xfrm>
            <a:off x="8382000" y="224790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l">
              <a:lnSpc>
                <a:spcPct val="118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矩阵数据格式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2C5D9A2-C754-4B50-BCAF-00C4785CA788}"/>
              </a:ext>
            </a:extLst>
          </p:cNvPr>
          <p:cNvSpPr>
            <a:spLocks noGrp="1"/>
          </p:cNvSpPr>
          <p:nvPr/>
        </p:nvSpPr>
        <p:spPr>
          <a:xfrm>
            <a:off x="8401050" y="2724150"/>
            <a:ext cx="2190750" cy="133350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l">
              <a:lnSpc>
                <a:spcPct val="122000"/>
              </a:lnSpc>
              <a:buNone/>
              <a:defRPr sz="1050" b="0" i="0">
                <a:solidFill>
                  <a:srgbClr val="CFE5FF"/>
                </a:solidFill>
                <a:latin typeface="Consolas"/>
                <a:ea typeface="Consolas"/>
                <a:cs typeface="Consolas"/>
              </a:defRPr>
            </a:pPr>
            <a:r>
              <a:rPr sz="1050" b="0" i="0">
                <a:solidFill>
                  <a:srgbClr val="CFE5FF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algn="l">
              <a:lnSpc>
                <a:spcPct val="122000"/>
              </a:lnSpc>
              <a:buNone/>
              <a:defRPr sz="1050" b="0" i="0">
                <a:solidFill>
                  <a:srgbClr val="CFE5FF"/>
                </a:solidFill>
                <a:latin typeface="Consolas"/>
                <a:ea typeface="Consolas"/>
                <a:cs typeface="Consolas"/>
              </a:defRPr>
            </a:pPr>
            <a:r>
              <a:rPr sz="1050" b="0" i="0">
                <a:solidFill>
                  <a:srgbClr val="CFE5FF"/>
                </a:solidFill>
                <a:latin typeface="Consolas"/>
                <a:ea typeface="Consolas"/>
                <a:cs typeface="Consolas"/>
              </a:rPr>
              <a:t>  "type": "matrix",</a:t>
            </a:r>
          </a:p>
          <a:p>
            <a:pPr algn="l">
              <a:lnSpc>
                <a:spcPct val="122000"/>
              </a:lnSpc>
              <a:buNone/>
              <a:defRPr sz="1050" b="0" i="0">
                <a:solidFill>
                  <a:srgbClr val="CFE5FF"/>
                </a:solidFill>
                <a:latin typeface="Consolas"/>
                <a:ea typeface="Consolas"/>
                <a:cs typeface="Consolas"/>
              </a:defRPr>
            </a:pPr>
            <a:r>
              <a:rPr sz="1050" b="0" i="0">
                <a:solidFill>
                  <a:srgbClr val="CFE5FF"/>
                </a:solidFill>
                <a:latin typeface="Consolas"/>
                <a:ea typeface="Consolas"/>
                <a:cs typeface="Consolas"/>
              </a:rPr>
              <a:t>  "action": "pixel",</a:t>
            </a:r>
          </a:p>
          <a:p>
            <a:pPr algn="l">
              <a:lnSpc>
                <a:spcPct val="122000"/>
              </a:lnSpc>
              <a:buNone/>
              <a:defRPr sz="1050" b="0" i="0">
                <a:solidFill>
                  <a:srgbClr val="CFE5FF"/>
                </a:solidFill>
                <a:latin typeface="Consolas"/>
                <a:ea typeface="Consolas"/>
                <a:cs typeface="Consolas"/>
              </a:defRPr>
            </a:pPr>
            <a:r>
              <a:rPr sz="1050" b="0" i="0">
                <a:solidFill>
                  <a:srgbClr val="CFE5FF"/>
                </a:solidFill>
                <a:latin typeface="Consolas"/>
                <a:ea typeface="Consolas"/>
                <a:cs typeface="Consolas"/>
              </a:rPr>
              <a:t>  "x": 4, "y": 4,</a:t>
            </a:r>
          </a:p>
          <a:p>
            <a:pPr algn="l">
              <a:lnSpc>
                <a:spcPct val="122000"/>
              </a:lnSpc>
              <a:buNone/>
              <a:defRPr sz="1050" b="0" i="0">
                <a:solidFill>
                  <a:srgbClr val="CFE5FF"/>
                </a:solidFill>
                <a:latin typeface="Consolas"/>
                <a:ea typeface="Consolas"/>
                <a:cs typeface="Consolas"/>
              </a:defRPr>
            </a:pPr>
            <a:r>
              <a:rPr sz="1050" b="0" i="0">
                <a:solidFill>
                  <a:srgbClr val="CFE5FF"/>
                </a:solidFill>
                <a:latin typeface="Consolas"/>
                <a:ea typeface="Consolas"/>
                <a:cs typeface="Consolas"/>
              </a:rPr>
              <a:t>  "on": 1,</a:t>
            </a:r>
          </a:p>
          <a:p>
            <a:pPr algn="l">
              <a:lnSpc>
                <a:spcPct val="122000"/>
              </a:lnSpc>
              <a:buNone/>
              <a:defRPr sz="1050" b="0" i="0">
                <a:solidFill>
                  <a:srgbClr val="CFE5FF"/>
                </a:solidFill>
                <a:latin typeface="Consolas"/>
                <a:ea typeface="Consolas"/>
                <a:cs typeface="Consolas"/>
              </a:defRPr>
            </a:pPr>
            <a:r>
              <a:rPr sz="1050" b="0" i="0">
                <a:solidFill>
                  <a:srgbClr val="CFE5FF"/>
                </a:solidFill>
                <a:latin typeface="Consolas"/>
                <a:ea typeface="Consolas"/>
                <a:cs typeface="Consolas"/>
              </a:rPr>
              <a:t>  "rows": [0,0,40,8,10,10,0,0]</a:t>
            </a:r>
          </a:p>
          <a:p>
            <a:pPr algn="l">
              <a:lnSpc>
                <a:spcPct val="122000"/>
              </a:lnSpc>
              <a:buNone/>
              <a:defRPr sz="1050" b="0" i="0">
                <a:solidFill>
                  <a:srgbClr val="CFE5FF"/>
                </a:solidFill>
                <a:latin typeface="Consolas"/>
                <a:ea typeface="Consolas"/>
                <a:cs typeface="Consolas"/>
              </a:defRPr>
            </a:pPr>
            <a:r>
              <a:rPr sz="1050" b="0" i="0">
                <a:solidFill>
                  <a:srgbClr val="CFE5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051F787-1432-40D8-9F9F-29ACA474B4F7}"/>
              </a:ext>
            </a:extLst>
          </p:cNvPr>
          <p:cNvSpPr>
            <a:spLocks noGrp="1"/>
          </p:cNvSpPr>
          <p:nvPr/>
        </p:nvSpPr>
        <p:spPr>
          <a:xfrm>
            <a:off x="3886200" y="5295900"/>
            <a:ext cx="95250" cy="95250"/>
          </a:xfrm>
          <a:prstGeom prst="ellipse">
            <a:avLst/>
          </a:prstGeom>
          <a:solidFill>
            <a:srgbClr val="19A658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C4468D9-F7F4-4131-8620-C4C8113C36A4}"/>
              </a:ext>
            </a:extLst>
          </p:cNvPr>
          <p:cNvSpPr>
            <a:spLocks noGrp="1"/>
          </p:cNvSpPr>
          <p:nvPr/>
        </p:nvSpPr>
        <p:spPr>
          <a:xfrm>
            <a:off x="4114800" y="5219700"/>
            <a:ext cx="5962650" cy="285750"/>
          </a:xfrm>
          <a:prstGeom prst="rect">
            <a:avLst/>
          </a:prstGeom>
          <a:noFill/>
          <a:ln w="0">
            <a:noFill/>
          </a:ln>
        </p:spPr>
        <p:txBody>
          <a:bodyPr lIns="0" tIns="19050" rIns="0" bIns="19050" anchor="t"/>
          <a:lstStyle/>
          <a:p>
            <a:pPr algn="l">
              <a:lnSpc>
                <a:spcPct val="122000"/>
              </a:lnSpc>
              <a:buNone/>
              <a:defRPr sz="1125" b="0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手机端点选像素或一键生成图案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B396577-6E2D-4FF2-B795-15B8D82024C9}"/>
              </a:ext>
            </a:extLst>
          </p:cNvPr>
          <p:cNvSpPr>
            <a:spLocks noGrp="1"/>
          </p:cNvSpPr>
          <p:nvPr/>
        </p:nvSpPr>
        <p:spPr>
          <a:xfrm>
            <a:off x="3886200" y="5619750"/>
            <a:ext cx="95250" cy="95250"/>
          </a:xfrm>
          <a:prstGeom prst="ellipse">
            <a:avLst/>
          </a:prstGeom>
          <a:solidFill>
            <a:srgbClr val="19A658"/>
          </a:solidFill>
          <a:ln w="0">
            <a:noFill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06FD2C7-D9C6-4D9B-9AF3-1DF3FE855CEE}"/>
              </a:ext>
            </a:extLst>
          </p:cNvPr>
          <p:cNvSpPr>
            <a:spLocks noGrp="1"/>
          </p:cNvSpPr>
          <p:nvPr/>
        </p:nvSpPr>
        <p:spPr>
          <a:xfrm>
            <a:off x="4114800" y="5543550"/>
            <a:ext cx="5962650" cy="285750"/>
          </a:xfrm>
          <a:prstGeom prst="rect">
            <a:avLst/>
          </a:prstGeom>
          <a:noFill/>
          <a:ln w="0">
            <a:noFill/>
          </a:ln>
        </p:spPr>
        <p:txBody>
          <a:bodyPr lIns="0" tIns="19050" rIns="0" bIns="19050" anchor="t"/>
          <a:lstStyle/>
          <a:p>
            <a:pPr algn="l">
              <a:lnSpc>
                <a:spcPct val="122000"/>
              </a:lnSpc>
              <a:buNone/>
              <a:defRPr sz="1125" b="0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ESP32 解析 rows 数组并刷新矩阵灯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4F722380-E71C-47A8-9F68-CD67ED2F8045}"/>
              </a:ext>
            </a:extLst>
          </p:cNvPr>
          <p:cNvSpPr>
            <a:spLocks noGrp="1"/>
          </p:cNvSpPr>
          <p:nvPr/>
        </p:nvSpPr>
        <p:spPr>
          <a:xfrm>
            <a:off x="3886200" y="5943600"/>
            <a:ext cx="95250" cy="95250"/>
          </a:xfrm>
          <a:prstGeom prst="ellipse">
            <a:avLst/>
          </a:prstGeom>
          <a:solidFill>
            <a:srgbClr val="19A658"/>
          </a:solidFill>
          <a:ln w="0">
            <a:noFill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2299EF-8E22-4C17-B366-C41E73EACD1B}"/>
              </a:ext>
            </a:extLst>
          </p:cNvPr>
          <p:cNvSpPr>
            <a:spLocks noGrp="1"/>
          </p:cNvSpPr>
          <p:nvPr/>
        </p:nvSpPr>
        <p:spPr>
          <a:xfrm>
            <a:off x="4114800" y="5867400"/>
            <a:ext cx="5962650" cy="285750"/>
          </a:xfrm>
          <a:prstGeom prst="rect">
            <a:avLst/>
          </a:prstGeom>
          <a:noFill/>
          <a:ln w="0">
            <a:noFill/>
          </a:ln>
        </p:spPr>
        <p:txBody>
          <a:bodyPr lIns="0" tIns="19050" rIns="0" bIns="19050" anchor="t"/>
          <a:lstStyle/>
          <a:p>
            <a:pPr algn="l">
              <a:lnSpc>
                <a:spcPct val="122000"/>
              </a:lnSpc>
              <a:buNone/>
              <a:defRPr sz="1125" b="0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矩阵灯可显示爱心、笑脸、云朵、箭头等图案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D82549C-98C8-4D74-A1E3-890CBF1EFFD3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9982200" cy="9525"/>
          </a:xfrm>
          <a:prstGeom prst="rect">
            <a:avLst/>
          </a:prstGeom>
          <a:solidFill>
            <a:srgbClr val="D9E2F3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0C5AF07-3249-4DE4-B963-4AB0171ED84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750" b="0" i="0">
                <a:solidFill>
                  <a:srgbClr val="7890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890AD"/>
                </a:solidFill>
                <a:latin typeface="Microsoft YaHei"/>
                <a:ea typeface="Microsoft YaHei"/>
                <a:cs typeface="Microsoft YaHei"/>
              </a:rPr>
              <a:t>ESP32智能游戏竞技台 | OpenHarmony + MQTT + 外设联动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420C075-239D-49E1-AD6A-A836FBB2C34C}"/>
              </a:ext>
            </a:extLst>
          </p:cNvPr>
          <p:cNvSpPr>
            <a:spLocks noGrp="1"/>
          </p:cNvSpPr>
          <p:nvPr/>
        </p:nvSpPr>
        <p:spPr>
          <a:xfrm>
            <a:off x="10820400" y="6343650"/>
            <a:ext cx="666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r">
              <a:lnSpc>
                <a:spcPct val="118000"/>
              </a:lnSpc>
              <a:buNone/>
              <a:defRPr sz="13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45405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436EECA9-684C-48EC-A98F-2610DA3DA1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930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ED601D5-5866-4362-BD20-9F82A8027DE1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76200" cy="4476750"/>
          </a:xfrm>
          <a:prstGeom prst="rect">
            <a:avLst/>
          </a:prstGeom>
          <a:solidFill>
            <a:srgbClr val="3F7BD8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60BEF56-CCEE-41FA-8914-5D3D9C7B34C9}"/>
              </a:ext>
            </a:extLst>
          </p:cNvPr>
          <p:cNvSpPr>
            <a:spLocks noGrp="1"/>
          </p:cNvSpPr>
          <p:nvPr/>
        </p:nvSpPr>
        <p:spPr>
          <a:xfrm>
            <a:off x="838200" y="1104900"/>
            <a:ext cx="857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2100" b="1" i="0">
                <a:solidFill>
                  <a:srgbClr val="77A6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77A6F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10D2DA4-B6B8-4FCD-A987-0FC3CAC1662E}"/>
              </a:ext>
            </a:extLst>
          </p:cNvPr>
          <p:cNvSpPr>
            <a:spLocks noGrp="1"/>
          </p:cNvSpPr>
          <p:nvPr/>
        </p:nvSpPr>
        <p:spPr>
          <a:xfrm>
            <a:off x="838200" y="1771650"/>
            <a:ext cx="609600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3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北向实现部分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036CF0-B5DF-4770-8ECE-A8FDCE7638BB}"/>
              </a:ext>
            </a:extLst>
          </p:cNvPr>
          <p:cNvSpPr>
            <a:spLocks noGrp="1"/>
          </p:cNvSpPr>
          <p:nvPr/>
        </p:nvSpPr>
        <p:spPr>
          <a:xfrm>
            <a:off x="876300" y="2724150"/>
            <a:ext cx="4953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1350" b="0" i="0">
                <a:solidFill>
                  <a:srgbClr val="A9BD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A9BDE0"/>
                </a:solidFill>
                <a:latin typeface="Microsoft YaHei"/>
                <a:ea typeface="Microsoft YaHei"/>
                <a:cs typeface="Microsoft YaHei"/>
              </a:rPr>
              <a:t>HarmonyOS APP And MQTT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77E88EB-B6BD-482F-861E-D140C883FF48}"/>
              </a:ext>
            </a:extLst>
          </p:cNvPr>
          <p:cNvSpPr>
            <a:spLocks noGrp="1"/>
          </p:cNvSpPr>
          <p:nvPr/>
        </p:nvSpPr>
        <p:spPr>
          <a:xfrm>
            <a:off x="7429500" y="1809750"/>
            <a:ext cx="1143000" cy="800100"/>
          </a:xfrm>
          <a:prstGeom prst="roundRect">
            <a:avLst>
              <a:gd name="adj" fmla="val 9524"/>
            </a:avLst>
          </a:prstGeom>
          <a:solidFill>
            <a:srgbClr val="172946"/>
          </a:solidFill>
          <a:ln w="9525">
            <a:solidFill>
              <a:srgbClr val="315280"/>
            </a:solidFill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A0B7AE-A393-4E82-9318-59FB60465864}"/>
              </a:ext>
            </a:extLst>
          </p:cNvPr>
          <p:cNvSpPr>
            <a:spLocks noGrp="1"/>
          </p:cNvSpPr>
          <p:nvPr/>
        </p:nvSpPr>
        <p:spPr>
          <a:xfrm>
            <a:off x="7543800" y="2038350"/>
            <a:ext cx="914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lnSpc>
                <a:spcPct val="118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ESP32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2EA25E0-4278-4878-A96E-37FF4EAFD2F4}"/>
              </a:ext>
            </a:extLst>
          </p:cNvPr>
          <p:cNvSpPr>
            <a:spLocks noGrp="1"/>
          </p:cNvSpPr>
          <p:nvPr/>
        </p:nvSpPr>
        <p:spPr>
          <a:xfrm>
            <a:off x="9144000" y="1809750"/>
            <a:ext cx="1143000" cy="800100"/>
          </a:xfrm>
          <a:prstGeom prst="roundRect">
            <a:avLst>
              <a:gd name="adj" fmla="val 9524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rgbClr val="315280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FBFB74-09B9-4115-B079-D8A3BC662F89}"/>
              </a:ext>
            </a:extLst>
          </p:cNvPr>
          <p:cNvSpPr>
            <a:spLocks noGrp="1"/>
          </p:cNvSpPr>
          <p:nvPr/>
        </p:nvSpPr>
        <p:spPr>
          <a:xfrm>
            <a:off x="9258300" y="2038350"/>
            <a:ext cx="914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lnSpc>
                <a:spcPct val="118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HarmonyOS APP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4BA1A6D-D710-4CB6-B082-E3EA39865F6A}"/>
              </a:ext>
            </a:extLst>
          </p:cNvPr>
          <p:cNvSpPr>
            <a:spLocks noGrp="1"/>
          </p:cNvSpPr>
          <p:nvPr/>
        </p:nvSpPr>
        <p:spPr>
          <a:xfrm>
            <a:off x="7429500" y="3048000"/>
            <a:ext cx="1143000" cy="800100"/>
          </a:xfrm>
          <a:prstGeom prst="roundRect">
            <a:avLst>
              <a:gd name="adj" fmla="val 9524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rgbClr val="315280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3276180-CB30-48FD-A408-BC11AC1651F6}"/>
              </a:ext>
            </a:extLst>
          </p:cNvPr>
          <p:cNvSpPr>
            <a:spLocks noGrp="1"/>
          </p:cNvSpPr>
          <p:nvPr/>
        </p:nvSpPr>
        <p:spPr>
          <a:xfrm>
            <a:off x="7543800" y="3276600"/>
            <a:ext cx="914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lnSpc>
                <a:spcPct val="118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MQTT Broker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115B879-29F3-4E27-8CE6-CCC7D6E3F35D}"/>
              </a:ext>
            </a:extLst>
          </p:cNvPr>
          <p:cNvSpPr>
            <a:spLocks noGrp="1"/>
          </p:cNvSpPr>
          <p:nvPr/>
        </p:nvSpPr>
        <p:spPr>
          <a:xfrm>
            <a:off x="9144000" y="3048000"/>
            <a:ext cx="1143000" cy="800100"/>
          </a:xfrm>
          <a:prstGeom prst="roundRect">
            <a:avLst>
              <a:gd name="adj" fmla="val 9524"/>
            </a:avLst>
          </a:prstGeom>
          <a:solidFill>
            <a:srgbClr val="172946"/>
          </a:solidFill>
          <a:ln w="9525">
            <a:solidFill>
              <a:srgbClr val="315280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3F216EA-BBD0-484F-A0A1-B5CE515857E7}"/>
              </a:ext>
            </a:extLst>
          </p:cNvPr>
          <p:cNvSpPr>
            <a:spLocks noGrp="1"/>
          </p:cNvSpPr>
          <p:nvPr/>
        </p:nvSpPr>
        <p:spPr>
          <a:xfrm>
            <a:off x="9258300" y="3276600"/>
            <a:ext cx="914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lnSpc>
                <a:spcPct val="118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8x8 Matrix</a:t>
            </a:r>
          </a:p>
        </p:txBody>
      </p:sp>
    </p:spTree>
    <p:extLst>
      <p:ext uri="{BB962C8B-B14F-4D97-AF65-F5344CB8AC3E}">
        <p14:creationId xmlns:p14="http://schemas.microsoft.com/office/powerpoint/2010/main" val="796787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kicker-label">
            <a:extLst>
              <a:ext uri="{FF2B5EF4-FFF2-40B4-BE49-F238E27FC236}">
                <a16:creationId xmlns:a16="http://schemas.microsoft.com/office/drawing/2014/main" id="{4434C9A3-C054-4981-8AF2-35FAB53E2CAC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19050" rIns="0" bIns="19050" anchor="ctr"/>
          <a:lstStyle/>
          <a:p>
            <a:pPr algn="l">
              <a:lnSpc>
                <a:spcPct val="118000"/>
              </a:lnSpc>
              <a:buNone/>
              <a:defRPr sz="10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APP DESIGN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466D3E3-20D3-4121-B664-40EA42A4DE0E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419100" cy="38100"/>
          </a:xfrm>
          <a:prstGeom prst="rect">
            <a:avLst/>
          </a:prstGeom>
          <a:solidFill>
            <a:srgbClr val="3F7BD8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CE3569-24D2-4E76-87F0-78A30A87DBB3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287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2175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HarmonyOS APP 提供游戏入口、成就记录和矩阵控制三类核心页面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C44D19-6C0E-487E-AE07-6716E9E39528}"/>
              </a:ext>
            </a:extLst>
          </p:cNvPr>
          <p:cNvSpPr>
            <a:spLocks noGrp="1"/>
          </p:cNvSpPr>
          <p:nvPr/>
        </p:nvSpPr>
        <p:spPr>
          <a:xfrm>
            <a:off x="609600" y="1347788"/>
            <a:ext cx="9144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20000"/>
              </a:lnSpc>
              <a:buNone/>
              <a:defRPr sz="12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APP 端基于 ArkTS 开发，承担用户操作、状态展示和 MQTT 消息收发。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5937B87-FB70-4012-89E3-4453B63CEA9E}"/>
              </a:ext>
            </a:extLst>
          </p:cNvPr>
          <p:cNvSpPr>
            <a:spLocks noGrp="1"/>
          </p:cNvSpPr>
          <p:nvPr/>
        </p:nvSpPr>
        <p:spPr>
          <a:xfrm>
            <a:off x="990600" y="1809750"/>
            <a:ext cx="1924050" cy="3829050"/>
          </a:xfrm>
          <a:prstGeom prst="roundRect">
            <a:avLst>
              <a:gd name="adj" fmla="val 11881"/>
            </a:avLst>
          </a:prstGeom>
          <a:solidFill>
            <a:srgbClr val="111827"/>
          </a:solidFill>
          <a:ln w="9525">
            <a:solidFill>
              <a:srgbClr val="B9C4D8"/>
            </a:solidFill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3875" y="1866900"/>
            <a:ext cx="1697500" cy="3714750"/>
          </a:xfrm>
          <a:prstGeom prst="roundRect">
            <a:avLst>
              <a:gd name="adj" fmla="val 10526"/>
            </a:avLst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686F0509-BC12-4DC7-8D6A-238EC315EC1A}"/>
              </a:ext>
            </a:extLst>
          </p:cNvPr>
          <p:cNvSpPr>
            <a:spLocks noGrp="1"/>
          </p:cNvSpPr>
          <p:nvPr/>
        </p:nvSpPr>
        <p:spPr>
          <a:xfrm>
            <a:off x="3752850" y="1695450"/>
            <a:ext cx="2057400" cy="4095750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9525">
            <a:solidFill>
              <a:srgbClr val="B9C4D8"/>
            </a:solidFill>
          </a:ln>
        </p:spPr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886101" y="1752600"/>
            <a:ext cx="1790898" cy="3981450"/>
          </a:xfrm>
          <a:prstGeom prst="roundRect">
            <a:avLst>
              <a:gd name="adj" fmla="val 9804"/>
            </a:avLst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A832181D-2F07-45B9-ADB6-C14E49180731}"/>
              </a:ext>
            </a:extLst>
          </p:cNvPr>
          <p:cNvSpPr>
            <a:spLocks noGrp="1"/>
          </p:cNvSpPr>
          <p:nvPr/>
        </p:nvSpPr>
        <p:spPr>
          <a:xfrm>
            <a:off x="6705600" y="1695450"/>
            <a:ext cx="2057400" cy="4095750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9525">
            <a:solidFill>
              <a:srgbClr val="B9C4D8"/>
            </a:solidFill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798136" y="1752600"/>
            <a:ext cx="1872328" cy="3981450"/>
          </a:xfrm>
          <a:prstGeom prst="roundRect">
            <a:avLst>
              <a:gd name="adj" fmla="val 9804"/>
            </a:avLst>
          </a:prstGeom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620A6D5-2582-40A7-B809-1DA5AFAA858A}"/>
              </a:ext>
            </a:extLst>
          </p:cNvPr>
          <p:cNvSpPr>
            <a:spLocks noGrp="1"/>
          </p:cNvSpPr>
          <p:nvPr/>
        </p:nvSpPr>
        <p:spPr>
          <a:xfrm>
            <a:off x="9563100" y="1695450"/>
            <a:ext cx="2057400" cy="4095750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9525">
            <a:solidFill>
              <a:srgbClr val="B9C4D8"/>
            </a:solidFill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690505" y="1752600"/>
            <a:ext cx="1802591" cy="3981450"/>
          </a:xfrm>
          <a:prstGeom prst="roundRect">
            <a:avLst>
              <a:gd name="adj" fmla="val 9804"/>
            </a:avLst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809F2D82-C342-4024-96E6-E9CFBB563F34}"/>
              </a:ext>
            </a:extLst>
          </p:cNvPr>
          <p:cNvSpPr>
            <a:spLocks noGrp="1"/>
          </p:cNvSpPr>
          <p:nvPr/>
        </p:nvSpPr>
        <p:spPr>
          <a:xfrm>
            <a:off x="1009650" y="5962650"/>
            <a:ext cx="1943100" cy="26670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2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游戏菜单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76047D5-C0B6-4789-9B8D-D9D748975EE0}"/>
              </a:ext>
            </a:extLst>
          </p:cNvPr>
          <p:cNvSpPr>
            <a:spLocks noGrp="1"/>
          </p:cNvSpPr>
          <p:nvPr/>
        </p:nvSpPr>
        <p:spPr>
          <a:xfrm>
            <a:off x="3771900" y="5962650"/>
            <a:ext cx="1943100" cy="26670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2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选择与排行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9597DCE-700B-42E4-9D48-8901C6C20099}"/>
              </a:ext>
            </a:extLst>
          </p:cNvPr>
          <p:cNvSpPr>
            <a:spLocks noGrp="1"/>
          </p:cNvSpPr>
          <p:nvPr/>
        </p:nvSpPr>
        <p:spPr>
          <a:xfrm>
            <a:off x="6724650" y="5962650"/>
            <a:ext cx="1943100" cy="26670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2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游戏成就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4FFFC23-9B5D-434A-8F95-49708D0D485D}"/>
              </a:ext>
            </a:extLst>
          </p:cNvPr>
          <p:cNvSpPr>
            <a:spLocks noGrp="1"/>
          </p:cNvSpPr>
          <p:nvPr/>
        </p:nvSpPr>
        <p:spPr>
          <a:xfrm>
            <a:off x="9582150" y="5962650"/>
            <a:ext cx="1943100" cy="26670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2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矩阵控制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445A04-5775-4822-9DB3-E73637DD3648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9982200" cy="9525"/>
          </a:xfrm>
          <a:prstGeom prst="rect">
            <a:avLst/>
          </a:prstGeom>
          <a:solidFill>
            <a:srgbClr val="D9E2F3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3D39A0F-DFC8-465B-858B-F0C1EA68359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750" b="0" i="0">
                <a:solidFill>
                  <a:srgbClr val="7890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890AD"/>
                </a:solidFill>
                <a:latin typeface="Microsoft YaHei"/>
                <a:ea typeface="Microsoft YaHei"/>
                <a:cs typeface="Microsoft YaHei"/>
              </a:rPr>
              <a:t>ESP32智能游戏竞技台 | OpenHarmony + MQTT + 外设联动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899C187-05EC-4791-B3B9-A196EA42DBB1}"/>
              </a:ext>
            </a:extLst>
          </p:cNvPr>
          <p:cNvSpPr>
            <a:spLocks noGrp="1"/>
          </p:cNvSpPr>
          <p:nvPr/>
        </p:nvSpPr>
        <p:spPr>
          <a:xfrm>
            <a:off x="10820400" y="6343650"/>
            <a:ext cx="666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r">
              <a:lnSpc>
                <a:spcPct val="118000"/>
              </a:lnSpc>
              <a:buNone/>
              <a:defRPr sz="13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60077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kicker-label">
            <a:extLst>
              <a:ext uri="{FF2B5EF4-FFF2-40B4-BE49-F238E27FC236}">
                <a16:creationId xmlns:a16="http://schemas.microsoft.com/office/drawing/2014/main" id="{F7A0D9DA-328D-4255-A6E5-BA4EF0244E81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19050" rIns="0" bIns="19050" anchor="ctr"/>
          <a:lstStyle/>
          <a:p>
            <a:pPr algn="l">
              <a:lnSpc>
                <a:spcPct val="118000"/>
              </a:lnSpc>
              <a:buNone/>
              <a:defRPr sz="10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MQTT COMMUNICATION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31ACC65-A566-4D82-B92A-2A345FCEBB5C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419100" cy="38100"/>
          </a:xfrm>
          <a:prstGeom prst="rect">
            <a:avLst/>
          </a:prstGeom>
          <a:solidFill>
            <a:srgbClr val="3F7BD8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9A851A7-1511-4BC5-9738-44B10835B258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287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2325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MQTT 主题把 APP 操作转成 ESP32 可执行的游戏指令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E68DB5B-2E67-4DCC-B0F9-8C173B79E54F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9144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20000"/>
              </a:lnSpc>
              <a:buNone/>
              <a:defRPr sz="12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调试页面显示 APP 每次绘制矩阵像素都会发布 JSON 消息到指定主题。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60060" y="1790700"/>
            <a:ext cx="4966579" cy="3886200"/>
          </a:xfrm>
          <a:prstGeom prst="roundRect">
            <a:avLst>
              <a:gd name="adj" fmla="val 1961"/>
            </a:avLst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F0BE79BD-B0A9-4E4D-8582-00A79D1A70F5}"/>
              </a:ext>
            </a:extLst>
          </p:cNvPr>
          <p:cNvSpPr>
            <a:spLocks noGrp="1"/>
          </p:cNvSpPr>
          <p:nvPr/>
        </p:nvSpPr>
        <p:spPr>
          <a:xfrm>
            <a:off x="7715250" y="2000250"/>
            <a:ext cx="3143250" cy="1295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FE7F4"/>
            </a:solidFill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ABD140-8012-46D6-A65E-8A62409F3EB4}"/>
              </a:ext>
            </a:extLst>
          </p:cNvPr>
          <p:cNvSpPr>
            <a:spLocks noGrp="1"/>
          </p:cNvSpPr>
          <p:nvPr/>
        </p:nvSpPr>
        <p:spPr>
          <a:xfrm>
            <a:off x="7981950" y="2209800"/>
            <a:ext cx="1524000" cy="26670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l">
              <a:lnSpc>
                <a:spcPct val="118000"/>
              </a:lnSpc>
              <a:buNone/>
              <a:defRPr sz="15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主题规划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A64E435-56DC-44C6-BBD4-2D940C0B997F}"/>
              </a:ext>
            </a:extLst>
          </p:cNvPr>
          <p:cNvSpPr>
            <a:spLocks noGrp="1"/>
          </p:cNvSpPr>
          <p:nvPr/>
        </p:nvSpPr>
        <p:spPr>
          <a:xfrm>
            <a:off x="8020050" y="2724150"/>
            <a:ext cx="95250" cy="95250"/>
          </a:xfrm>
          <a:prstGeom prst="ellipse">
            <a:avLst/>
          </a:prstGeom>
          <a:solidFill>
            <a:srgbClr val="3F7BD8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358BD38-771B-4E8E-B93D-B2AFEE982664}"/>
              </a:ext>
            </a:extLst>
          </p:cNvPr>
          <p:cNvSpPr>
            <a:spLocks noGrp="1"/>
          </p:cNvSpPr>
          <p:nvPr/>
        </p:nvSpPr>
        <p:spPr>
          <a:xfrm>
            <a:off x="8248650" y="2647950"/>
            <a:ext cx="2343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19050" rIns="0" bIns="19050" anchor="t"/>
          <a:lstStyle/>
          <a:p>
            <a:pPr algn="l">
              <a:lnSpc>
                <a:spcPct val="122000"/>
              </a:lnSpc>
              <a:buNone/>
              <a:defRPr sz="900" b="0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wuquanbin/game/cmd：APP 下发控制指令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414BF10-3863-4F67-B712-93A5BC1369F8}"/>
              </a:ext>
            </a:extLst>
          </p:cNvPr>
          <p:cNvSpPr>
            <a:spLocks noGrp="1"/>
          </p:cNvSpPr>
          <p:nvPr/>
        </p:nvSpPr>
        <p:spPr>
          <a:xfrm>
            <a:off x="8020050" y="3009900"/>
            <a:ext cx="95250" cy="95250"/>
          </a:xfrm>
          <a:prstGeom prst="ellipse">
            <a:avLst/>
          </a:prstGeom>
          <a:solidFill>
            <a:srgbClr val="3F7BD8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393570A-FE36-4DDD-8152-799D87C0D2BC}"/>
              </a:ext>
            </a:extLst>
          </p:cNvPr>
          <p:cNvSpPr>
            <a:spLocks noGrp="1"/>
          </p:cNvSpPr>
          <p:nvPr/>
        </p:nvSpPr>
        <p:spPr>
          <a:xfrm>
            <a:off x="8248650" y="2933700"/>
            <a:ext cx="2343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19050" rIns="0" bIns="19050" anchor="t"/>
          <a:lstStyle/>
          <a:p>
            <a:pPr algn="l">
              <a:lnSpc>
                <a:spcPct val="122000"/>
              </a:lnSpc>
              <a:buNone/>
              <a:defRPr sz="900" b="0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wuquanbin/game/state：ESP32 回传状态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4B6D704-9603-4ED5-921C-1E3501C34C81}"/>
              </a:ext>
            </a:extLst>
          </p:cNvPr>
          <p:cNvSpPr>
            <a:spLocks noGrp="1"/>
          </p:cNvSpPr>
          <p:nvPr/>
        </p:nvSpPr>
        <p:spPr>
          <a:xfrm>
            <a:off x="8020050" y="3295650"/>
            <a:ext cx="95250" cy="95250"/>
          </a:xfrm>
          <a:prstGeom prst="ellipse">
            <a:avLst/>
          </a:prstGeom>
          <a:solidFill>
            <a:srgbClr val="3F7BD8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7C1F78-878D-45EE-B2F4-2D4C03A0F654}"/>
              </a:ext>
            </a:extLst>
          </p:cNvPr>
          <p:cNvSpPr>
            <a:spLocks noGrp="1"/>
          </p:cNvSpPr>
          <p:nvPr/>
        </p:nvSpPr>
        <p:spPr>
          <a:xfrm>
            <a:off x="8248650" y="3219450"/>
            <a:ext cx="2343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19050" rIns="0" bIns="19050" anchor="t"/>
          <a:lstStyle/>
          <a:p>
            <a:pPr algn="l">
              <a:lnSpc>
                <a:spcPct val="122000"/>
              </a:lnSpc>
              <a:buNone/>
              <a:defRPr sz="900" b="0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wuquanbin/game/score：同步游戏分数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1DD4EAC-99E7-41BD-B03B-814039E15445}"/>
              </a:ext>
            </a:extLst>
          </p:cNvPr>
          <p:cNvSpPr>
            <a:spLocks noGrp="1"/>
          </p:cNvSpPr>
          <p:nvPr/>
        </p:nvSpPr>
        <p:spPr>
          <a:xfrm>
            <a:off x="7715250" y="373380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0E1930"/>
          </a:solidFill>
          <a:ln w="9525">
            <a:solidFill>
              <a:srgbClr val="DFE7F4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B40EDEB-865B-40BD-96DA-6B484D5ADD72}"/>
              </a:ext>
            </a:extLst>
          </p:cNvPr>
          <p:cNvSpPr>
            <a:spLocks noGrp="1"/>
          </p:cNvSpPr>
          <p:nvPr/>
        </p:nvSpPr>
        <p:spPr>
          <a:xfrm>
            <a:off x="7981950" y="3943350"/>
            <a:ext cx="1809750" cy="2476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l">
              <a:lnSpc>
                <a:spcPct val="118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双向通信闭环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D82A694-F07B-462B-A41A-DC234367D625}"/>
              </a:ext>
            </a:extLst>
          </p:cNvPr>
          <p:cNvSpPr>
            <a:spLocks noGrp="1"/>
          </p:cNvSpPr>
          <p:nvPr/>
        </p:nvSpPr>
        <p:spPr>
          <a:xfrm>
            <a:off x="7981950" y="4381500"/>
            <a:ext cx="2457450" cy="45720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l">
              <a:lnSpc>
                <a:spcPct val="124000"/>
              </a:lnSpc>
              <a:buNone/>
              <a:defRPr sz="1050" b="0" i="0">
                <a:solidFill>
                  <a:srgbClr val="D8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D8E7FF"/>
                </a:solidFill>
                <a:latin typeface="Microsoft YaHei"/>
                <a:ea typeface="Microsoft YaHei"/>
                <a:cs typeface="Microsoft YaHei"/>
              </a:rPr>
              <a:t>发布控制 → Broker 转发 → ESP32 执行 → 状态回传 → APP 更新界面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F7EB86F-FCF4-4E97-8C1B-753FFEA62909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9982200" cy="9525"/>
          </a:xfrm>
          <a:prstGeom prst="rect">
            <a:avLst/>
          </a:prstGeom>
          <a:solidFill>
            <a:srgbClr val="D9E2F3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74CFA1E-C989-4F11-AB54-B79621D7F92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750" b="0" i="0">
                <a:solidFill>
                  <a:srgbClr val="7890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890AD"/>
                </a:solidFill>
                <a:latin typeface="Microsoft YaHei"/>
                <a:ea typeface="Microsoft YaHei"/>
                <a:cs typeface="Microsoft YaHei"/>
              </a:rPr>
              <a:t>ESP32智能游戏竞技台 | OpenHarmony + MQTT + 外设联动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C3E99A4-ECAF-4A86-AB8A-2F57623EE9B3}"/>
              </a:ext>
            </a:extLst>
          </p:cNvPr>
          <p:cNvSpPr>
            <a:spLocks noGrp="1"/>
          </p:cNvSpPr>
          <p:nvPr/>
        </p:nvSpPr>
        <p:spPr>
          <a:xfrm>
            <a:off x="10820400" y="6343650"/>
            <a:ext cx="666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r">
              <a:lnSpc>
                <a:spcPct val="118000"/>
              </a:lnSpc>
              <a:buNone/>
              <a:defRPr sz="13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07978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kicker-label">
            <a:extLst>
              <a:ext uri="{FF2B5EF4-FFF2-40B4-BE49-F238E27FC236}">
                <a16:creationId xmlns:a16="http://schemas.microsoft.com/office/drawing/2014/main" id="{49200DED-AAEC-48D5-A8A9-5FF370684DB4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19050" rIns="0" bIns="19050" anchor="ctr"/>
          <a:lstStyle/>
          <a:p>
            <a:pPr algn="l">
              <a:lnSpc>
                <a:spcPct val="118000"/>
              </a:lnSpc>
              <a:buNone/>
              <a:defRPr sz="10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APP-MQTT FLOW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4B1909-FDD5-4146-88BC-ADE1DF118EDB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419100" cy="38100"/>
          </a:xfrm>
          <a:prstGeom prst="rect">
            <a:avLst/>
          </a:prstGeom>
          <a:solidFill>
            <a:srgbClr val="3F7BD8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6323F34-4A1B-4965-BD3E-9446C3CD5611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2870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北向流程从创建客户端开始，到订阅主题和处理回调结束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A201FE1-D127-45BB-BBEC-B86824B5BBD1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9144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20000"/>
              </a:lnSpc>
              <a:buNone/>
              <a:defRPr sz="12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参考原 PPT 的北向实现页，保留初始化、连接、订阅、发布、回调处理五步逻辑。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1F66464-735D-4092-B836-7740AB530087}"/>
              </a:ext>
            </a:extLst>
          </p:cNvPr>
          <p:cNvSpPr>
            <a:spLocks noGrp="1"/>
          </p:cNvSpPr>
          <p:nvPr/>
        </p:nvSpPr>
        <p:spPr>
          <a:xfrm>
            <a:off x="895350" y="2571750"/>
            <a:ext cx="1276350" cy="514350"/>
          </a:xfrm>
          <a:prstGeom prst="roundRect">
            <a:avLst>
              <a:gd name="adj" fmla="val 14815"/>
            </a:avLst>
          </a:prstGeom>
          <a:solidFill>
            <a:srgbClr val="3F7BD8"/>
          </a:solidFill>
          <a:ln w="14288">
            <a:solidFill>
              <a:srgbClr val="3F7BD8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832CD40-6FF1-4EB0-ACA7-01D358A2EE6E}"/>
              </a:ext>
            </a:extLst>
          </p:cNvPr>
          <p:cNvSpPr>
            <a:spLocks noGrp="1"/>
          </p:cNvSpPr>
          <p:nvPr/>
        </p:nvSpPr>
        <p:spPr>
          <a:xfrm>
            <a:off x="971550" y="2676525"/>
            <a:ext cx="1123950" cy="2476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配置参数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90D1139-6BC8-48B0-A4F0-ECFBA7C38E1E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1466850" cy="41910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ctr">
              <a:lnSpc>
                <a:spcPct val="116000"/>
              </a:lnSpc>
              <a:buNone/>
              <a:defRPr sz="825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Broker 地址、端口、Client ID、用户名和密码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55D5589-A2DE-4219-8AA2-15FD9F5F3263}"/>
              </a:ext>
            </a:extLst>
          </p:cNvPr>
          <p:cNvSpPr>
            <a:spLocks noGrp="1"/>
          </p:cNvSpPr>
          <p:nvPr/>
        </p:nvSpPr>
        <p:spPr>
          <a:xfrm rot="3555871">
            <a:off x="2171700" y="2819400"/>
            <a:ext cx="820036" cy="19050"/>
          </a:xfrm>
          <a:prstGeom prst="rect">
            <a:avLst/>
          </a:prstGeom>
          <a:solidFill>
            <a:srgbClr val="C8D5EA"/>
          </a:solidFill>
          <a:ln w="0">
            <a:noFill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C5465FE-3F1D-4BDD-A550-DB627A001149}"/>
              </a:ext>
            </a:extLst>
          </p:cNvPr>
          <p:cNvSpPr>
            <a:spLocks noGrp="1"/>
          </p:cNvSpPr>
          <p:nvPr/>
        </p:nvSpPr>
        <p:spPr>
          <a:xfrm>
            <a:off x="2590800" y="3276600"/>
            <a:ext cx="12763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4288">
            <a:solidFill>
              <a:srgbClr val="3F7BD8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26D2A54-93BA-46A0-9D04-9BCDD9059770}"/>
              </a:ext>
            </a:extLst>
          </p:cNvPr>
          <p:cNvSpPr>
            <a:spLocks noGrp="1"/>
          </p:cNvSpPr>
          <p:nvPr/>
        </p:nvSpPr>
        <p:spPr>
          <a:xfrm>
            <a:off x="2667000" y="3381375"/>
            <a:ext cx="1123950" cy="2476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125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创建客户端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AE654F-BC99-48C0-9E7A-B7EFA29166D9}"/>
              </a:ext>
            </a:extLst>
          </p:cNvPr>
          <p:cNvSpPr>
            <a:spLocks noGrp="1"/>
          </p:cNvSpPr>
          <p:nvPr/>
        </p:nvSpPr>
        <p:spPr>
          <a:xfrm>
            <a:off x="2495550" y="3905250"/>
            <a:ext cx="1466850" cy="41910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ctr">
              <a:lnSpc>
                <a:spcPct val="116000"/>
              </a:lnSpc>
              <a:buNone/>
              <a:defRPr sz="825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APP 构建 MQTTClient 实例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44B1874-C14D-48D5-9713-EEAE19EA2C93}"/>
              </a:ext>
            </a:extLst>
          </p:cNvPr>
          <p:cNvSpPr>
            <a:spLocks noGrp="1"/>
          </p:cNvSpPr>
          <p:nvPr/>
        </p:nvSpPr>
        <p:spPr>
          <a:xfrm rot="-3555871">
            <a:off x="3867150" y="3524250"/>
            <a:ext cx="820036" cy="19050"/>
          </a:xfrm>
          <a:prstGeom prst="rect">
            <a:avLst/>
          </a:prstGeom>
          <a:solidFill>
            <a:srgbClr val="C8D5EA"/>
          </a:solidFill>
          <a:ln w="0">
            <a:noFill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0FA0EEB-4C12-4080-94A7-B187D78165E8}"/>
              </a:ext>
            </a:extLst>
          </p:cNvPr>
          <p:cNvSpPr>
            <a:spLocks noGrp="1"/>
          </p:cNvSpPr>
          <p:nvPr/>
        </p:nvSpPr>
        <p:spPr>
          <a:xfrm>
            <a:off x="4286250" y="2571750"/>
            <a:ext cx="1276350" cy="514350"/>
          </a:xfrm>
          <a:prstGeom prst="roundRect">
            <a:avLst>
              <a:gd name="adj" fmla="val 14815"/>
            </a:avLst>
          </a:prstGeom>
          <a:solidFill>
            <a:srgbClr val="3F7BD8"/>
          </a:solidFill>
          <a:ln w="14288">
            <a:solidFill>
              <a:srgbClr val="3F7BD8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A88304D-1CD1-4B89-AE34-6C340AD9AD1A}"/>
              </a:ext>
            </a:extLst>
          </p:cNvPr>
          <p:cNvSpPr>
            <a:spLocks noGrp="1"/>
          </p:cNvSpPr>
          <p:nvPr/>
        </p:nvSpPr>
        <p:spPr>
          <a:xfrm>
            <a:off x="4362450" y="2676525"/>
            <a:ext cx="1123950" cy="2476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建立连接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975423C-947B-4EF3-90D4-37557E1FCBBA}"/>
              </a:ext>
            </a:extLst>
          </p:cNvPr>
          <p:cNvSpPr>
            <a:spLocks noGrp="1"/>
          </p:cNvSpPr>
          <p:nvPr/>
        </p:nvSpPr>
        <p:spPr>
          <a:xfrm>
            <a:off x="4191000" y="3200400"/>
            <a:ext cx="1466850" cy="41910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ctr">
              <a:lnSpc>
                <a:spcPct val="116000"/>
              </a:lnSpc>
              <a:buNone/>
              <a:defRPr sz="825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连接 broker.emqx.io / HiveMQ Broker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91BE414-3FD9-4E05-8E8F-DCEB5D9DC0F3}"/>
              </a:ext>
            </a:extLst>
          </p:cNvPr>
          <p:cNvSpPr>
            <a:spLocks noGrp="1"/>
          </p:cNvSpPr>
          <p:nvPr/>
        </p:nvSpPr>
        <p:spPr>
          <a:xfrm rot="3555871">
            <a:off x="5562600" y="2819400"/>
            <a:ext cx="820036" cy="19050"/>
          </a:xfrm>
          <a:prstGeom prst="rect">
            <a:avLst/>
          </a:prstGeom>
          <a:solidFill>
            <a:srgbClr val="C8D5EA"/>
          </a:solidFill>
          <a:ln w="0">
            <a:noFill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CE4ECE8-3F8F-482C-9139-589E4D6535DC}"/>
              </a:ext>
            </a:extLst>
          </p:cNvPr>
          <p:cNvSpPr>
            <a:spLocks noGrp="1"/>
          </p:cNvSpPr>
          <p:nvPr/>
        </p:nvSpPr>
        <p:spPr>
          <a:xfrm>
            <a:off x="5981700" y="3276600"/>
            <a:ext cx="12763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4288">
            <a:solidFill>
              <a:srgbClr val="3F7BD8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043A87E-2F41-450A-929F-F68AB16C2DB5}"/>
              </a:ext>
            </a:extLst>
          </p:cNvPr>
          <p:cNvSpPr>
            <a:spLocks noGrp="1"/>
          </p:cNvSpPr>
          <p:nvPr/>
        </p:nvSpPr>
        <p:spPr>
          <a:xfrm>
            <a:off x="6057900" y="3381375"/>
            <a:ext cx="1123950" cy="2476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125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订阅主题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C49693B-2067-4F97-97FB-7D5DDF3E188C}"/>
              </a:ext>
            </a:extLst>
          </p:cNvPr>
          <p:cNvSpPr>
            <a:spLocks noGrp="1"/>
          </p:cNvSpPr>
          <p:nvPr/>
        </p:nvSpPr>
        <p:spPr>
          <a:xfrm>
            <a:off x="5886450" y="3905250"/>
            <a:ext cx="1466850" cy="41910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ctr">
              <a:lnSpc>
                <a:spcPct val="116000"/>
              </a:lnSpc>
              <a:buNone/>
              <a:defRPr sz="825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监听状态、分数与设备连接消息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A835018-F0D4-4F5D-BE97-B3652A2D9A40}"/>
              </a:ext>
            </a:extLst>
          </p:cNvPr>
          <p:cNvSpPr>
            <a:spLocks noGrp="1"/>
          </p:cNvSpPr>
          <p:nvPr/>
        </p:nvSpPr>
        <p:spPr>
          <a:xfrm rot="-3555871">
            <a:off x="7258050" y="3524250"/>
            <a:ext cx="820036" cy="19050"/>
          </a:xfrm>
          <a:prstGeom prst="rect">
            <a:avLst/>
          </a:prstGeom>
          <a:solidFill>
            <a:srgbClr val="C8D5EA"/>
          </a:solidFill>
          <a:ln w="0">
            <a:noFill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77A41D5-BD22-4BD3-966A-53B167BC734D}"/>
              </a:ext>
            </a:extLst>
          </p:cNvPr>
          <p:cNvSpPr>
            <a:spLocks noGrp="1"/>
          </p:cNvSpPr>
          <p:nvPr/>
        </p:nvSpPr>
        <p:spPr>
          <a:xfrm>
            <a:off x="7677150" y="2571750"/>
            <a:ext cx="1276350" cy="514350"/>
          </a:xfrm>
          <a:prstGeom prst="roundRect">
            <a:avLst>
              <a:gd name="adj" fmla="val 14815"/>
            </a:avLst>
          </a:prstGeom>
          <a:solidFill>
            <a:srgbClr val="3F7BD8"/>
          </a:solidFill>
          <a:ln w="14288">
            <a:solidFill>
              <a:srgbClr val="3F7BD8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3533BD8-4CCC-40AE-8739-2E4E8904A375}"/>
              </a:ext>
            </a:extLst>
          </p:cNvPr>
          <p:cNvSpPr>
            <a:spLocks noGrp="1"/>
          </p:cNvSpPr>
          <p:nvPr/>
        </p:nvSpPr>
        <p:spPr>
          <a:xfrm>
            <a:off x="7753350" y="2676525"/>
            <a:ext cx="1123950" cy="2476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发布消息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E4FCBEA-A575-4A0F-B638-CDD3CB440152}"/>
              </a:ext>
            </a:extLst>
          </p:cNvPr>
          <p:cNvSpPr>
            <a:spLocks noGrp="1"/>
          </p:cNvSpPr>
          <p:nvPr/>
        </p:nvSpPr>
        <p:spPr>
          <a:xfrm>
            <a:off x="7581900" y="3200400"/>
            <a:ext cx="1466850" cy="41910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ctr">
              <a:lnSpc>
                <a:spcPct val="116000"/>
              </a:lnSpc>
              <a:buNone/>
              <a:defRPr sz="825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选择游戏、矩阵像素、复活等控制指令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AE02863-E388-44A6-8CE7-2F04B30E9CFE}"/>
              </a:ext>
            </a:extLst>
          </p:cNvPr>
          <p:cNvSpPr>
            <a:spLocks noGrp="1"/>
          </p:cNvSpPr>
          <p:nvPr/>
        </p:nvSpPr>
        <p:spPr>
          <a:xfrm rot="3555871">
            <a:off x="8953500" y="2819400"/>
            <a:ext cx="820036" cy="19050"/>
          </a:xfrm>
          <a:prstGeom prst="rect">
            <a:avLst/>
          </a:prstGeom>
          <a:solidFill>
            <a:srgbClr val="C8D5EA"/>
          </a:solidFill>
          <a:ln w="0">
            <a:noFill/>
          </a:ln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1BA300FE-BE53-46E4-8DA2-CC3F11CCD7A6}"/>
              </a:ext>
            </a:extLst>
          </p:cNvPr>
          <p:cNvSpPr>
            <a:spLocks noGrp="1"/>
          </p:cNvSpPr>
          <p:nvPr/>
        </p:nvSpPr>
        <p:spPr>
          <a:xfrm>
            <a:off x="9372600" y="3276600"/>
            <a:ext cx="12763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4288">
            <a:solidFill>
              <a:srgbClr val="3F7BD8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AA4406A-7276-47DF-8F44-590AE1E7788B}"/>
              </a:ext>
            </a:extLst>
          </p:cNvPr>
          <p:cNvSpPr>
            <a:spLocks noGrp="1"/>
          </p:cNvSpPr>
          <p:nvPr/>
        </p:nvSpPr>
        <p:spPr>
          <a:xfrm>
            <a:off x="9448800" y="3381375"/>
            <a:ext cx="1123950" cy="2476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125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回调处理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207FA62-3991-4353-8265-3B87E66E863A}"/>
              </a:ext>
            </a:extLst>
          </p:cNvPr>
          <p:cNvSpPr>
            <a:spLocks noGrp="1"/>
          </p:cNvSpPr>
          <p:nvPr/>
        </p:nvSpPr>
        <p:spPr>
          <a:xfrm>
            <a:off x="9277350" y="3905250"/>
            <a:ext cx="1466850" cy="41910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ctr">
              <a:lnSpc>
                <a:spcPct val="116000"/>
              </a:lnSpc>
              <a:buNone/>
              <a:defRPr sz="825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解析 JSON，更新页面与提示状态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56527" y="4533900"/>
            <a:ext cx="2078947" cy="1428750"/>
          </a:xfrm>
          <a:prstGeom prst="roundRect">
            <a:avLst>
              <a:gd name="adj" fmla="val 4000"/>
            </a:avLst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724A68D5-9E22-410C-A2BB-EC796F487532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9982200" cy="9525"/>
          </a:xfrm>
          <a:prstGeom prst="rect">
            <a:avLst/>
          </a:prstGeom>
          <a:solidFill>
            <a:srgbClr val="D9E2F3"/>
          </a:solidFill>
          <a:ln w="0">
            <a:noFill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131B68E-D7D9-4793-BB68-245A0B22C54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750" b="0" i="0">
                <a:solidFill>
                  <a:srgbClr val="7890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890AD"/>
                </a:solidFill>
                <a:latin typeface="Microsoft YaHei"/>
                <a:ea typeface="Microsoft YaHei"/>
                <a:cs typeface="Microsoft YaHei"/>
              </a:rPr>
              <a:t>ESP32智能游戏竞技台 | OpenHarmony + MQTT + 外设联动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D392290-2E21-49BA-89E5-D39159E1588F}"/>
              </a:ext>
            </a:extLst>
          </p:cNvPr>
          <p:cNvSpPr>
            <a:spLocks noGrp="1"/>
          </p:cNvSpPr>
          <p:nvPr/>
        </p:nvSpPr>
        <p:spPr>
          <a:xfrm>
            <a:off x="10820400" y="6343650"/>
            <a:ext cx="666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r">
              <a:lnSpc>
                <a:spcPct val="118000"/>
              </a:lnSpc>
              <a:buNone/>
              <a:defRPr sz="13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29049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kicker-label">
            <a:extLst>
              <a:ext uri="{FF2B5EF4-FFF2-40B4-BE49-F238E27FC236}">
                <a16:creationId xmlns:a16="http://schemas.microsoft.com/office/drawing/2014/main" id="{94AFA09A-CD26-49DD-AE68-7252B317F494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19050" rIns="0" bIns="19050" anchor="ctr"/>
          <a:lstStyle/>
          <a:p>
            <a:pPr algn="l">
              <a:lnSpc>
                <a:spcPct val="118000"/>
              </a:lnSpc>
              <a:buNone/>
              <a:defRPr sz="10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RESULT DEMO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2EBB186-A329-48B2-A82E-46F5EAE399B4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419100" cy="38100"/>
          </a:xfrm>
          <a:prstGeom prst="rect">
            <a:avLst/>
          </a:prstGeom>
          <a:solidFill>
            <a:srgbClr val="3F7BD8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7C9229-1432-4C98-9568-8E8261D13E05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287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2325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实物联调已经覆盖 APP 操作、MQTT 消息和硬件反馈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805FBCB-D95C-482B-8B00-80A90C91F85C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9144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20000"/>
              </a:lnSpc>
              <a:buNone/>
              <a:defRPr sz="12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成品展示重点看三件事：APP 可操作、Broker 可见消息、开发板外设有响应。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1848467"/>
            <a:ext cx="4876800" cy="3351566"/>
          </a:xfrm>
          <a:prstGeom prst="roundRect">
            <a:avLst>
              <a:gd name="adj" fmla="val 2222"/>
            </a:avLst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rcRect t="9575" b="9575"/>
          <a:stretch>
            <a:fillRect/>
          </a:stretch>
        </p:blipFill>
        <p:spPr>
          <a:xfrm>
            <a:off x="6191250" y="1809750"/>
            <a:ext cx="2381250" cy="3429000"/>
          </a:xfrm>
          <a:prstGeom prst="roundRect">
            <a:avLst>
              <a:gd name="adj" fmla="val 3200"/>
            </a:avLst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C2DB85EB-98F1-4646-8B28-4F9CD6F8B91D}"/>
              </a:ext>
            </a:extLst>
          </p:cNvPr>
          <p:cNvSpPr>
            <a:spLocks noGrp="1"/>
          </p:cNvSpPr>
          <p:nvPr/>
        </p:nvSpPr>
        <p:spPr>
          <a:xfrm>
            <a:off x="9010650" y="1447800"/>
            <a:ext cx="2209800" cy="4400550"/>
          </a:xfrm>
          <a:prstGeom prst="roundRect">
            <a:avLst>
              <a:gd name="adj" fmla="val 10345"/>
            </a:avLst>
          </a:prstGeom>
          <a:solidFill>
            <a:srgbClr val="111827"/>
          </a:solidFill>
          <a:ln w="9525">
            <a:solidFill>
              <a:srgbClr val="B9C4D8"/>
            </a:solidFill>
          </a:ln>
        </p:spPr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145256" y="1504950"/>
            <a:ext cx="1940588" cy="4286250"/>
          </a:xfrm>
          <a:prstGeom prst="roundRect">
            <a:avLst>
              <a:gd name="adj" fmla="val 9091"/>
            </a:avLst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3DAF95F4-D979-4238-9138-4F75B7DD84C6}"/>
              </a:ext>
            </a:extLst>
          </p:cNvPr>
          <p:cNvSpPr>
            <a:spLocks noGrp="1"/>
          </p:cNvSpPr>
          <p:nvPr/>
        </p:nvSpPr>
        <p:spPr>
          <a:xfrm>
            <a:off x="1009650" y="5581650"/>
            <a:ext cx="25717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FE7F4"/>
            </a:solidFill>
          </a:ln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AD3631C-DEAC-48B4-86E1-3A259E4EA85E}"/>
              </a:ext>
            </a:extLst>
          </p:cNvPr>
          <p:cNvSpPr>
            <a:spLocks noGrp="1"/>
          </p:cNvSpPr>
          <p:nvPr/>
        </p:nvSpPr>
        <p:spPr>
          <a:xfrm>
            <a:off x="1143000" y="5715000"/>
            <a:ext cx="666750" cy="285750"/>
          </a:xfrm>
          <a:prstGeom prst="roundRect">
            <a:avLst>
              <a:gd name="adj" fmla="val 26667"/>
            </a:avLst>
          </a:prstGeom>
          <a:solidFill>
            <a:srgbClr val="3F7BD8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539B8B2-8AB3-4B77-A103-7D620A4038C9}"/>
              </a:ext>
            </a:extLst>
          </p:cNvPr>
          <p:cNvSpPr>
            <a:spLocks noGrp="1"/>
          </p:cNvSpPr>
          <p:nvPr/>
        </p:nvSpPr>
        <p:spPr>
          <a:xfrm>
            <a:off x="1143000" y="57340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76200" tIns="0" rIns="76200" bIns="0" anchor="ctr"/>
          <a:lstStyle/>
          <a:p>
            <a:pPr algn="ctr">
              <a:lnSpc>
                <a:spcPct val="118000"/>
              </a:lnSpc>
              <a:buNone/>
              <a:defRPr sz="9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APP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7F116DF-02AE-4B64-81EC-7600B8A02446}"/>
              </a:ext>
            </a:extLst>
          </p:cNvPr>
          <p:cNvSpPr>
            <a:spLocks noGrp="1"/>
          </p:cNvSpPr>
          <p:nvPr/>
        </p:nvSpPr>
        <p:spPr>
          <a:xfrm>
            <a:off x="1924050" y="5676900"/>
            <a:ext cx="1447800" cy="34290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l">
              <a:lnSpc>
                <a:spcPct val="115000"/>
              </a:lnSpc>
              <a:buNone/>
              <a:defRPr sz="9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游戏菜单、成就与矩阵控制页面完成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3375324-B232-4BBD-B526-BA5304A0537D}"/>
              </a:ext>
            </a:extLst>
          </p:cNvPr>
          <p:cNvSpPr>
            <a:spLocks noGrp="1"/>
          </p:cNvSpPr>
          <p:nvPr/>
        </p:nvSpPr>
        <p:spPr>
          <a:xfrm>
            <a:off x="4152900" y="5581650"/>
            <a:ext cx="25717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FE7F4"/>
            </a:solidFill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393F2A3-91CE-4A6F-9825-54B486A7EF5C}"/>
              </a:ext>
            </a:extLst>
          </p:cNvPr>
          <p:cNvSpPr>
            <a:spLocks noGrp="1"/>
          </p:cNvSpPr>
          <p:nvPr/>
        </p:nvSpPr>
        <p:spPr>
          <a:xfrm>
            <a:off x="4286250" y="5715000"/>
            <a:ext cx="666750" cy="285750"/>
          </a:xfrm>
          <a:prstGeom prst="roundRect">
            <a:avLst>
              <a:gd name="adj" fmla="val 26667"/>
            </a:avLst>
          </a:prstGeom>
          <a:solidFill>
            <a:srgbClr val="19A658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C89FB59-6F33-4F7D-9C77-35D2E83CEABC}"/>
              </a:ext>
            </a:extLst>
          </p:cNvPr>
          <p:cNvSpPr>
            <a:spLocks noGrp="1"/>
          </p:cNvSpPr>
          <p:nvPr/>
        </p:nvSpPr>
        <p:spPr>
          <a:xfrm>
            <a:off x="4286250" y="57340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76200" tIns="0" rIns="76200" bIns="0" anchor="ctr"/>
          <a:lstStyle/>
          <a:p>
            <a:pPr algn="ctr">
              <a:lnSpc>
                <a:spcPct val="118000"/>
              </a:lnSpc>
              <a:buNone/>
              <a:defRPr sz="9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MQTT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E59B4E5-06A2-4A7D-BE7F-67DEA7D95609}"/>
              </a:ext>
            </a:extLst>
          </p:cNvPr>
          <p:cNvSpPr>
            <a:spLocks noGrp="1"/>
          </p:cNvSpPr>
          <p:nvPr/>
        </p:nvSpPr>
        <p:spPr>
          <a:xfrm>
            <a:off x="5067300" y="5676900"/>
            <a:ext cx="1447800" cy="34290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l">
              <a:lnSpc>
                <a:spcPct val="115000"/>
              </a:lnSpc>
              <a:buNone/>
              <a:defRPr sz="9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可在调试工具中看到 JSON 指令持续发布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331CAF5-29A5-4BA5-AB00-9E1A72112822}"/>
              </a:ext>
            </a:extLst>
          </p:cNvPr>
          <p:cNvSpPr>
            <a:spLocks noGrp="1"/>
          </p:cNvSpPr>
          <p:nvPr/>
        </p:nvSpPr>
        <p:spPr>
          <a:xfrm>
            <a:off x="7296150" y="5581650"/>
            <a:ext cx="25717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FE7F4"/>
            </a:solidFill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72A022A-B5CD-43B3-8610-74C98E72ED9C}"/>
              </a:ext>
            </a:extLst>
          </p:cNvPr>
          <p:cNvSpPr>
            <a:spLocks noGrp="1"/>
          </p:cNvSpPr>
          <p:nvPr/>
        </p:nvSpPr>
        <p:spPr>
          <a:xfrm>
            <a:off x="7429500" y="5715000"/>
            <a:ext cx="666750" cy="285750"/>
          </a:xfrm>
          <a:prstGeom prst="roundRect">
            <a:avLst>
              <a:gd name="adj" fmla="val 26667"/>
            </a:avLst>
          </a:prstGeom>
          <a:solidFill>
            <a:srgbClr val="F05A16"/>
          </a:solidFill>
          <a:ln w="0"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1C728F3-0A1E-42C1-B9B1-14AFFEDE6237}"/>
              </a:ext>
            </a:extLst>
          </p:cNvPr>
          <p:cNvSpPr>
            <a:spLocks noGrp="1"/>
          </p:cNvSpPr>
          <p:nvPr/>
        </p:nvSpPr>
        <p:spPr>
          <a:xfrm>
            <a:off x="7429500" y="57340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76200" tIns="0" rIns="76200" bIns="0" anchor="ctr"/>
          <a:lstStyle/>
          <a:p>
            <a:pPr algn="ctr">
              <a:lnSpc>
                <a:spcPct val="118000"/>
              </a:lnSpc>
              <a:buNone/>
              <a:defRPr sz="9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硬件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18C9E8C-8E22-4487-880A-0749A3118C71}"/>
              </a:ext>
            </a:extLst>
          </p:cNvPr>
          <p:cNvSpPr>
            <a:spLocks noGrp="1"/>
          </p:cNvSpPr>
          <p:nvPr/>
        </p:nvSpPr>
        <p:spPr>
          <a:xfrm>
            <a:off x="8210550" y="5676900"/>
            <a:ext cx="1447800" cy="34290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l">
              <a:lnSpc>
                <a:spcPct val="115000"/>
              </a:lnSpc>
              <a:buNone/>
              <a:defRPr sz="9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97993"/>
                </a:solidFill>
                <a:latin typeface="Microsoft YaHei"/>
                <a:ea typeface="Microsoft YaHei"/>
                <a:cs typeface="Microsoft YaHei"/>
              </a:rPr>
              <a:t>矩阵灯、数码管、蜂鸣器和按键完成联动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FA58D4E-943A-4310-8BC8-E9BA984B8ED1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9982200" cy="9525"/>
          </a:xfrm>
          <a:prstGeom prst="rect">
            <a:avLst/>
          </a:prstGeom>
          <a:solidFill>
            <a:srgbClr val="D9E2F3"/>
          </a:solidFill>
          <a:ln w="0">
            <a:noFill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50543EA-D46A-46CD-AECE-E6DEDF33136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750" b="0" i="0">
                <a:solidFill>
                  <a:srgbClr val="7890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890AD"/>
                </a:solidFill>
                <a:latin typeface="Microsoft YaHei"/>
                <a:ea typeface="Microsoft YaHei"/>
                <a:cs typeface="Microsoft YaHei"/>
              </a:rPr>
              <a:t>ESP32智能游戏竞技台 | OpenHarmony + MQTT + 外设联动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664C82B-1D4D-4298-8271-5D1809C34746}"/>
              </a:ext>
            </a:extLst>
          </p:cNvPr>
          <p:cNvSpPr>
            <a:spLocks noGrp="1"/>
          </p:cNvSpPr>
          <p:nvPr/>
        </p:nvSpPr>
        <p:spPr>
          <a:xfrm>
            <a:off x="10820400" y="6343650"/>
            <a:ext cx="666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r">
              <a:lnSpc>
                <a:spcPct val="118000"/>
              </a:lnSpc>
              <a:buNone/>
              <a:defRPr sz="13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F7BD8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87350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E5ACF62F-3C34-469F-85A1-0E7DBDB71C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930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D474391-9F53-4E33-9C37-4B324B984954}"/>
              </a:ext>
            </a:extLst>
          </p:cNvPr>
          <p:cNvSpPr>
            <a:spLocks noGrp="1"/>
          </p:cNvSpPr>
          <p:nvPr/>
        </p:nvSpPr>
        <p:spPr>
          <a:xfrm>
            <a:off x="704850" y="5905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l">
              <a:lnSpc>
                <a:spcPct val="118000"/>
              </a:lnSpc>
              <a:buNone/>
              <a:defRPr sz="1050" b="1" i="0">
                <a:solidFill>
                  <a:srgbClr val="77A6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77A6F7"/>
                </a:solidFill>
                <a:latin typeface="Microsoft YaHei"/>
                <a:ea typeface="Microsoft YaHei"/>
                <a:cs typeface="Microsoft YaHei"/>
              </a:rPr>
              <a:t>SUMMARY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511FB11-6C41-48DE-880F-5DC738CBB55A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723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2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项目完成了从 APP 到 ESP32 外设的完整物联网闭环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264B08B-E2F8-438F-B788-3B4C7C83C963}"/>
              </a:ext>
            </a:extLst>
          </p:cNvPr>
          <p:cNvSpPr>
            <a:spLocks noGrp="1"/>
          </p:cNvSpPr>
          <p:nvPr/>
        </p:nvSpPr>
        <p:spPr>
          <a:xfrm>
            <a:off x="800100" y="2266950"/>
            <a:ext cx="457200" cy="457200"/>
          </a:xfrm>
          <a:prstGeom prst="ellipse">
            <a:avLst/>
          </a:prstGeom>
          <a:solidFill>
            <a:srgbClr val="3F7BD8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12F695-E03C-427F-9EF4-EF6BF09FA29C}"/>
              </a:ext>
            </a:extLst>
          </p:cNvPr>
          <p:cNvSpPr>
            <a:spLocks noGrp="1"/>
          </p:cNvSpPr>
          <p:nvPr/>
        </p:nvSpPr>
        <p:spPr>
          <a:xfrm>
            <a:off x="800100" y="234315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FD97757-4507-4D91-9B12-FECF84057C25}"/>
              </a:ext>
            </a:extLst>
          </p:cNvPr>
          <p:cNvSpPr>
            <a:spLocks noGrp="1"/>
          </p:cNvSpPr>
          <p:nvPr/>
        </p:nvSpPr>
        <p:spPr>
          <a:xfrm>
            <a:off x="1466850" y="2247900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l">
              <a:lnSpc>
                <a:spcPct val="118000"/>
              </a:lnSpc>
              <a:buNone/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系统成果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A3CB44-83B7-4957-866F-5C29E6284BF1}"/>
              </a:ext>
            </a:extLst>
          </p:cNvPr>
          <p:cNvSpPr>
            <a:spLocks noGrp="1"/>
          </p:cNvSpPr>
          <p:nvPr/>
        </p:nvSpPr>
        <p:spPr>
          <a:xfrm>
            <a:off x="1466850" y="2609850"/>
            <a:ext cx="5715000" cy="4000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l">
              <a:lnSpc>
                <a:spcPct val="122000"/>
              </a:lnSpc>
              <a:buNone/>
              <a:defRPr sz="1200" b="0" i="0">
                <a:solidFill>
                  <a:srgbClr val="BFD3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BFD3F3"/>
                </a:solidFill>
                <a:latin typeface="Microsoft YaHei"/>
                <a:ea typeface="Microsoft YaHei"/>
                <a:cs typeface="Microsoft YaHei"/>
              </a:rPr>
              <a:t>实现游戏选择、矩阵控制、成就排行、硬件外设联动和 MQTT 调试验证。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56AA78D-26AC-47A7-9BD5-4489B1B671B6}"/>
              </a:ext>
            </a:extLst>
          </p:cNvPr>
          <p:cNvSpPr>
            <a:spLocks noGrp="1"/>
          </p:cNvSpPr>
          <p:nvPr/>
        </p:nvSpPr>
        <p:spPr>
          <a:xfrm>
            <a:off x="800100" y="3371850"/>
            <a:ext cx="457200" cy="457200"/>
          </a:xfrm>
          <a:prstGeom prst="ellipse">
            <a:avLst/>
          </a:prstGeom>
          <a:solidFill>
            <a:srgbClr val="19A658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6B55CA-A69F-4A7A-A83A-395AEE1843C2}"/>
              </a:ext>
            </a:extLst>
          </p:cNvPr>
          <p:cNvSpPr>
            <a:spLocks noGrp="1"/>
          </p:cNvSpPr>
          <p:nvPr/>
        </p:nvSpPr>
        <p:spPr>
          <a:xfrm>
            <a:off x="800100" y="344805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6D09961-7C6E-4FB7-86A3-B3C284B36187}"/>
              </a:ext>
            </a:extLst>
          </p:cNvPr>
          <p:cNvSpPr>
            <a:spLocks noGrp="1"/>
          </p:cNvSpPr>
          <p:nvPr/>
        </p:nvSpPr>
        <p:spPr>
          <a:xfrm>
            <a:off x="1466850" y="3352800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l">
              <a:lnSpc>
                <a:spcPct val="118000"/>
              </a:lnSpc>
              <a:buNone/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技术收获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FBBC70-7C96-4DF8-8FC6-8D85BAECC0EC}"/>
              </a:ext>
            </a:extLst>
          </p:cNvPr>
          <p:cNvSpPr>
            <a:spLocks noGrp="1"/>
          </p:cNvSpPr>
          <p:nvPr/>
        </p:nvSpPr>
        <p:spPr>
          <a:xfrm>
            <a:off x="1466850" y="3714750"/>
            <a:ext cx="5715000" cy="4000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l">
              <a:lnSpc>
                <a:spcPct val="122000"/>
              </a:lnSpc>
              <a:buNone/>
              <a:defRPr sz="1200" b="0" i="0">
                <a:solidFill>
                  <a:srgbClr val="BFD3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BFD3F3"/>
                </a:solidFill>
                <a:latin typeface="Microsoft YaHei"/>
                <a:ea typeface="Microsoft YaHei"/>
                <a:cs typeface="Microsoft YaHei"/>
              </a:rPr>
              <a:t>掌握 GPIO、ADC、I2C/双线串行、ArkTS 页面开发和 MQTT 发布/订阅通信。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72B7D55-3A87-40E2-BFCB-5B1D5A4A36EA}"/>
              </a:ext>
            </a:extLst>
          </p:cNvPr>
          <p:cNvSpPr>
            <a:spLocks noGrp="1"/>
          </p:cNvSpPr>
          <p:nvPr/>
        </p:nvSpPr>
        <p:spPr>
          <a:xfrm>
            <a:off x="800100" y="4476750"/>
            <a:ext cx="457200" cy="457200"/>
          </a:xfrm>
          <a:prstGeom prst="ellipse">
            <a:avLst/>
          </a:prstGeom>
          <a:solidFill>
            <a:srgbClr val="F05A16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80B96B4-9747-4FD7-B1D2-C854857C4E53}"/>
              </a:ext>
            </a:extLst>
          </p:cNvPr>
          <p:cNvSpPr>
            <a:spLocks noGrp="1"/>
          </p:cNvSpPr>
          <p:nvPr/>
        </p:nvSpPr>
        <p:spPr>
          <a:xfrm>
            <a:off x="800100" y="455295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4AED804-B384-4779-BF7B-3A2BE16FACDA}"/>
              </a:ext>
            </a:extLst>
          </p:cNvPr>
          <p:cNvSpPr>
            <a:spLocks noGrp="1"/>
          </p:cNvSpPr>
          <p:nvPr/>
        </p:nvSpPr>
        <p:spPr>
          <a:xfrm>
            <a:off x="1466850" y="4457700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l">
              <a:lnSpc>
                <a:spcPct val="118000"/>
              </a:lnSpc>
              <a:buNone/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改进方向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872B396-3344-4C1F-9D6D-D5B49E34AE1A}"/>
              </a:ext>
            </a:extLst>
          </p:cNvPr>
          <p:cNvSpPr>
            <a:spLocks noGrp="1"/>
          </p:cNvSpPr>
          <p:nvPr/>
        </p:nvSpPr>
        <p:spPr>
          <a:xfrm>
            <a:off x="1466850" y="4819650"/>
            <a:ext cx="5715000" cy="4000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t"/>
          <a:lstStyle/>
          <a:p>
            <a:pPr algn="l">
              <a:lnSpc>
                <a:spcPct val="122000"/>
              </a:lnSpc>
              <a:buNone/>
              <a:defRPr sz="1200" b="0" i="0">
                <a:solidFill>
                  <a:srgbClr val="BFD3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BFD3F3"/>
                </a:solidFill>
                <a:latin typeface="Microsoft YaHei"/>
                <a:ea typeface="Microsoft YaHei"/>
                <a:cs typeface="Microsoft YaHei"/>
              </a:rPr>
              <a:t>后续可优化连接稳定性、增加设备状态监控、封装更多游戏和动画图案。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42C4DB9-8D39-41AA-9170-EE90B8DB01E2}"/>
              </a:ext>
            </a:extLst>
          </p:cNvPr>
          <p:cNvSpPr>
            <a:spLocks noGrp="1"/>
          </p:cNvSpPr>
          <p:nvPr/>
        </p:nvSpPr>
        <p:spPr>
          <a:xfrm>
            <a:off x="8362950" y="819150"/>
            <a:ext cx="2495550" cy="4972050"/>
          </a:xfrm>
          <a:prstGeom prst="roundRect">
            <a:avLst>
              <a:gd name="adj" fmla="val 9160"/>
            </a:avLst>
          </a:prstGeom>
          <a:solidFill>
            <a:srgbClr val="111827"/>
          </a:solidFill>
          <a:ln w="9525">
            <a:solidFill>
              <a:srgbClr val="B9C4D8"/>
            </a:solidFill>
          </a:ln>
        </p:spPr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18191" y="876300"/>
            <a:ext cx="2185067" cy="4857750"/>
          </a:xfrm>
          <a:prstGeom prst="roundRect">
            <a:avLst>
              <a:gd name="adj" fmla="val 8000"/>
            </a:avLst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B9969358-EE0F-48CA-9ACB-B5EE8B8B2472}"/>
              </a:ext>
            </a:extLst>
          </p:cNvPr>
          <p:cNvSpPr>
            <a:spLocks noGrp="1"/>
          </p:cNvSpPr>
          <p:nvPr/>
        </p:nvSpPr>
        <p:spPr>
          <a:xfrm>
            <a:off x="8915400" y="6019800"/>
            <a:ext cx="1524000" cy="34290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 anchor="ctr"/>
          <a:lstStyle/>
          <a:p>
            <a:pPr algn="ctr">
              <a:lnSpc>
                <a:spcPct val="118000"/>
              </a:lnSpc>
              <a:buNone/>
              <a:defRPr sz="1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142441836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940</Words>
  <Application>Microsoft Office PowerPoint</Application>
  <DocSecurity>0</DocSecurity>
  <PresentationFormat>宽屏</PresentationFormat>
  <Paragraphs>278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宋体</vt:lpstr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泉彬 巫</cp:lastModifiedBy>
  <cp:revision>15</cp:revision>
  <dcterms:created xsi:type="dcterms:W3CDTF">2026-06-12T14:21:58Z</dcterms:created>
  <dcterms:modified xsi:type="dcterms:W3CDTF">2026-06-16T01:03:52Z</dcterms:modified>
</cp:coreProperties>
</file>